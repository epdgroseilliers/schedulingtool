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align the team and consultants on the current workflow, the proposed information framework, and the boundary between automation and trader judgment. Content reflects the workflow described by the trading team.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Clarification: traders may enter deals before tagging. On busy days, the entry tool takes too much time, so the official database position often remains incomplete until trading ends. The current process relies on temporary notes and mental matching while market bids, transmission and scheduling continue in parallel.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principle: use trades as the first operational object. The workspace should ingest existing term positions and new ICE trades, while supporting rapid manual entry for phone transactions. Every downstream file or action retains a link to the source trade allocation.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supplied by the team: matching a 10 MW HE17–22 buy at Point P with a sale at Point S creates the need for transmission from P to S. The software must also support one-to-many and many-to-many allocations because hours and quantities often split across several trades.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flow keeps decision making with the trader. Automation captures information, maintains relationships, prepares files and actions, and validates lineage. Human approval remains at the points where market judgment, counterpart risk, transmission economics or exception handling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consultant discussion: confirm which integrations are technically and contractually available for ICE, ICE Chat, MAGTrade, OATI and the internal database. Define baseline measures before implementation, especially scheduling time, entry delay, reconciliation exceptions and the time required to prepare the RT handoff.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55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D0BEBB-B1C6-4E7E-B28B-03380CCC6B78}"/>
              </a:ext>
            </a:extLst>
          </p:cNvPr>
          <p:cNvSpPr>
            <a:spLocks noGrp="1"/>
          </p:cNvSpPr>
          <p:nvPr/>
        </p:nvSpPr>
        <p:spPr>
          <a:xfrm>
            <a:off x="723900" y="1714500"/>
            <a:ext cx="8191500" cy="819150"/>
          </a:xfrm>
          <a:prstGeom prst="rect">
            <a:avLst/>
          </a:prstGeom>
          <a:noFill/>
          <a:ln w="0">
            <a:noFill/>
          </a:ln>
        </p:spPr>
        <p:txBody>
          <a:bodyPr wrap="square" lIns="0" tIns="0" rIns="0" bIns="0" anchor="ctr">
            <a:normAutofit fontScale="98761"/>
          </a:bodyPr>
          <a:lstStyle/>
          <a:p>
            <a:pPr algn="l">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DA trading and scheduling</a:t>
            </a:r>
          </a:p>
        </p:txBody>
      </p:sp>
      <p:sp>
        <p:nvSpPr>
          <p:cNvPr id="2" name="Rectangle 1">
            <a:extLst>
              <a:ext uri="{FF2B5EF4-FFF2-40B4-BE49-F238E27FC236}">
                <a16:creationId xmlns:a16="http://schemas.microsoft.com/office/drawing/2014/main" id="{E747443F-7B40-488C-A408-CDFCCCCD7B5E}"/>
              </a:ext>
            </a:extLst>
          </p:cNvPr>
          <p:cNvSpPr>
            <a:spLocks noGrp="1"/>
          </p:cNvSpPr>
          <p:nvPr/>
        </p:nvSpPr>
        <p:spPr>
          <a:xfrm>
            <a:off x="752475" y="2686050"/>
            <a:ext cx="7239000" cy="457200"/>
          </a:xfrm>
          <a:prstGeom prst="rect">
            <a:avLst/>
          </a:prstGeom>
          <a:noFill/>
          <a:ln w="0">
            <a:noFill/>
          </a:ln>
        </p:spPr>
        <p:txBody>
          <a:bodyPr wrap="square" lIns="0" tIns="0" rIns="0" bIns="0" anchor="t">
            <a:normAutofit/>
          </a:bodyPr>
          <a:lstStyle/>
          <a:p>
            <a:pPr algn="l">
              <a:defRPr sz="2100" b="0">
                <a:solidFill>
                  <a:srgbClr val="D6E4F2"/>
                </a:solidFill>
                <a:latin typeface="DejaVu Sans"/>
                <a:ea typeface="DejaVu Sans"/>
                <a:cs typeface="DejaVu Sans"/>
              </a:defRPr>
            </a:pPr>
            <a:r>
              <a:rPr sz="2100" b="0">
                <a:solidFill>
                  <a:srgbClr val="D6E4F2"/>
                </a:solidFill>
                <a:latin typeface="DejaVu Sans"/>
                <a:ea typeface="DejaVu Sans"/>
                <a:cs typeface="DejaVu Sans"/>
              </a:rPr>
              <a:t>Current workflow and automation vision</a:t>
            </a:r>
          </a:p>
        </p:txBody>
      </p:sp>
      <p:sp>
        <p:nvSpPr>
          <p:cNvPr id="3" name="Straight Connector 2">
            <a:extLst>
              <a:ext uri="{FF2B5EF4-FFF2-40B4-BE49-F238E27FC236}">
                <a16:creationId xmlns:a16="http://schemas.microsoft.com/office/drawing/2014/main" id="{1F791FB8-6BB8-4439-A462-B8B3513E1638}"/>
              </a:ext>
            </a:extLst>
          </p:cNvPr>
          <p:cNvSpPr>
            <a:spLocks noGrp="1"/>
          </p:cNvSpPr>
          <p:nvPr/>
        </p:nvSpPr>
        <p:spPr>
          <a:xfrm>
            <a:off x="762000" y="3381375"/>
            <a:ext cx="2381250" cy="0"/>
          </a:xfrm>
          <a:prstGeom prst="line">
            <a:avLst/>
          </a:prstGeom>
          <a:noFill/>
          <a:ln w="47625">
            <a:solidFill>
              <a:srgbClr val="65B8B3"/>
            </a:solidFill>
            <a:prstDash val="solid"/>
          </a:ln>
        </p:spPr>
        <p:txBody>
          <a:bodyPr/>
          <a:lstStyle/>
          <a:p>
            <a:endParaRPr lang="en-CA"/>
          </a:p>
        </p:txBody>
      </p:sp>
      <p:sp>
        <p:nvSpPr>
          <p:cNvPr id="4" name="Rectangle 3">
            <a:extLst>
              <a:ext uri="{FF2B5EF4-FFF2-40B4-BE49-F238E27FC236}">
                <a16:creationId xmlns:a16="http://schemas.microsoft.com/office/drawing/2014/main" id="{31F9C438-D70E-4F35-A591-604AC08F75AC}"/>
              </a:ext>
            </a:extLst>
          </p:cNvPr>
          <p:cNvSpPr>
            <a:spLocks noGrp="1"/>
          </p:cNvSpPr>
          <p:nvPr/>
        </p:nvSpPr>
        <p:spPr>
          <a:xfrm>
            <a:off x="771525" y="3638550"/>
            <a:ext cx="3619500" cy="304800"/>
          </a:xfrm>
          <a:prstGeom prst="rect">
            <a:avLst/>
          </a:prstGeom>
          <a:noFill/>
          <a:ln w="0">
            <a:noFill/>
          </a:ln>
        </p:spPr>
        <p:txBody>
          <a:bodyPr wrap="square" lIns="0" tIns="0" rIns="0" bIns="0" anchor="t">
            <a:normAutofit/>
          </a:bodyPr>
          <a:lstStyle/>
          <a:p>
            <a:pPr algn="l">
              <a:defRPr sz="1425" b="0">
                <a:solidFill>
                  <a:srgbClr val="C7D7E7"/>
                </a:solidFill>
                <a:latin typeface="DejaVu Sans"/>
                <a:ea typeface="DejaVu Sans"/>
                <a:cs typeface="DejaVu Sans"/>
              </a:defRPr>
            </a:pPr>
            <a:r>
              <a:rPr sz="1425" b="0">
                <a:solidFill>
                  <a:srgbClr val="C7D7E7"/>
                </a:solidFill>
                <a:latin typeface="DejaVu Sans"/>
                <a:ea typeface="DejaVu Sans"/>
                <a:cs typeface="DejaVu Sans"/>
              </a:rPr>
              <a:t>Western power markets</a:t>
            </a:r>
          </a:p>
        </p:txBody>
      </p:sp>
      <p:sp>
        <p:nvSpPr>
          <p:cNvPr id="5" name="Rectangle 4">
            <a:extLst>
              <a:ext uri="{FF2B5EF4-FFF2-40B4-BE49-F238E27FC236}">
                <a16:creationId xmlns:a16="http://schemas.microsoft.com/office/drawing/2014/main" id="{7999815B-2313-4364-8FD0-6DE6751CDF90}"/>
              </a:ext>
            </a:extLst>
          </p:cNvPr>
          <p:cNvSpPr>
            <a:spLocks noGrp="1"/>
          </p:cNvSpPr>
          <p:nvPr/>
        </p:nvSpPr>
        <p:spPr>
          <a:xfrm>
            <a:off x="771525" y="6019800"/>
            <a:ext cx="5715000" cy="285750"/>
          </a:xfrm>
          <a:prstGeom prst="rect">
            <a:avLst/>
          </a:prstGeom>
          <a:noFill/>
          <a:ln w="0">
            <a:noFill/>
          </a:ln>
        </p:spPr>
        <p:txBody>
          <a:bodyPr wrap="square" lIns="0" tIns="0" rIns="0" bIns="0" anchor="t">
            <a:normAutofit/>
          </a:bodyPr>
          <a:lstStyle/>
          <a:p>
            <a:pPr algn="l">
              <a:defRPr sz="1200" b="0">
                <a:solidFill>
                  <a:srgbClr val="AFC5D8"/>
                </a:solidFill>
                <a:latin typeface="DejaVu Sans"/>
                <a:ea typeface="DejaVu Sans"/>
                <a:cs typeface="DejaVu Sans"/>
              </a:defRPr>
            </a:pPr>
            <a:r>
              <a:rPr sz="1200" b="0">
                <a:solidFill>
                  <a:srgbClr val="AFC5D8"/>
                </a:solidFill>
                <a:latin typeface="DejaVu Sans"/>
                <a:ea typeface="DejaVu Sans"/>
                <a:cs typeface="DejaVu Sans"/>
              </a:rPr>
              <a:t>Prepared for team and consultant discussion</a:t>
            </a:r>
          </a:p>
        </p:txBody>
      </p:sp>
    </p:spTree>
    <p:extLst>
      <p:ext uri="{BB962C8B-B14F-4D97-AF65-F5344CB8AC3E}">
        <p14:creationId xmlns:p14="http://schemas.microsoft.com/office/powerpoint/2010/main" val="186631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222884DE-D8A7-42E8-B10E-5C3CD2072C3D}"/>
              </a:ext>
            </a:extLst>
          </p:cNvPr>
          <p:cNvSpPr>
            <a:spLocks noGrp="1"/>
          </p:cNvSpPr>
          <p:nvPr/>
        </p:nvSpPr>
        <p:spPr>
          <a:xfrm>
            <a:off x="609600" y="323850"/>
            <a:ext cx="10972800" cy="495300"/>
          </a:xfrm>
          <a:prstGeom prst="rect">
            <a:avLst/>
          </a:prstGeom>
          <a:noFill/>
          <a:ln w="0">
            <a:noFill/>
          </a:ln>
        </p:spPr>
        <p:txBody>
          <a:bodyPr wrap="square" lIns="0" tIns="0" rIns="0" bIns="0" anchor="ctr">
            <a:normAutofit/>
          </a:bodyPr>
          <a:lstStyle/>
          <a:p>
            <a:pPr algn="l">
              <a:defRPr sz="3000" b="1">
                <a:solidFill>
                  <a:srgbClr val="12355B"/>
                </a:solidFill>
                <a:latin typeface="DejaVu Sans"/>
                <a:ea typeface="DejaVu Sans"/>
                <a:cs typeface="DejaVu Sans"/>
              </a:defRPr>
            </a:pPr>
            <a:r>
              <a:rPr sz="3000" b="1">
                <a:solidFill>
                  <a:srgbClr val="12355B"/>
                </a:solidFill>
                <a:latin typeface="DejaVu Sans"/>
                <a:ea typeface="DejaVu Sans"/>
                <a:cs typeface="DejaVu Sans"/>
              </a:rPr>
              <a:t>Current DA workflow</a:t>
            </a:r>
          </a:p>
        </p:txBody>
      </p:sp>
      <p:sp>
        <p:nvSpPr>
          <p:cNvPr id="2" name="Rectangle 1">
            <a:extLst>
              <a:ext uri="{FF2B5EF4-FFF2-40B4-BE49-F238E27FC236}">
                <a16:creationId xmlns:a16="http://schemas.microsoft.com/office/drawing/2014/main" id="{082CA52F-0A3C-484D-9234-8B0733F9C7A2}"/>
              </a:ext>
            </a:extLst>
          </p:cNvPr>
          <p:cNvSpPr>
            <a:spLocks noGrp="1"/>
          </p:cNvSpPr>
          <p:nvPr/>
        </p:nvSpPr>
        <p:spPr>
          <a:xfrm>
            <a:off x="628650" y="819150"/>
            <a:ext cx="10934700" cy="28575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Trading, bidding and scheduling run in parallel, while the official position can lag on busy days</a:t>
            </a:r>
          </a:p>
        </p:txBody>
      </p:sp>
      <p:sp>
        <p:nvSpPr>
          <p:cNvPr id="3" name="Straight Connector 2">
            <a:extLst>
              <a:ext uri="{FF2B5EF4-FFF2-40B4-BE49-F238E27FC236}">
                <a16:creationId xmlns:a16="http://schemas.microsoft.com/office/drawing/2014/main" id="{1818D39B-4D07-4E5F-8842-D2036DF55AC2}"/>
              </a:ext>
            </a:extLst>
          </p:cNvPr>
          <p:cNvSpPr>
            <a:spLocks noGrp="1"/>
          </p:cNvSpPr>
          <p:nvPr/>
        </p:nvSpPr>
        <p:spPr>
          <a:xfrm>
            <a:off x="609600" y="1162050"/>
            <a:ext cx="10972800" cy="0"/>
          </a:xfrm>
          <a:prstGeom prst="line">
            <a:avLst/>
          </a:prstGeom>
          <a:noFill/>
          <a:ln w="9525">
            <a:solidFill>
              <a:srgbClr val="E3E9EF"/>
            </a:solidFill>
            <a:prstDash val="solid"/>
          </a:ln>
        </p:spPr>
        <p:txBody>
          <a:bodyPr/>
          <a:lstStyle/>
          <a:p>
            <a:endParaRPr lang="en-CA"/>
          </a:p>
        </p:txBody>
      </p:sp>
      <p:sp>
        <p:nvSpPr>
          <p:cNvPr id="4" name="Rectangle 3">
            <a:extLst>
              <a:ext uri="{FF2B5EF4-FFF2-40B4-BE49-F238E27FC236}">
                <a16:creationId xmlns:a16="http://schemas.microsoft.com/office/drawing/2014/main" id="{6A3E466F-43EB-4799-AB5D-29460376D35D}"/>
              </a:ext>
            </a:extLst>
          </p:cNvPr>
          <p:cNvSpPr>
            <a:spLocks noGrp="1"/>
          </p:cNvSpPr>
          <p:nvPr/>
        </p:nvSpPr>
        <p:spPr>
          <a:xfrm>
            <a:off x="609600" y="1381125"/>
            <a:ext cx="2266950" cy="4191000"/>
          </a:xfrm>
          <a:prstGeom prst="rect">
            <a:avLst/>
          </a:prstGeom>
          <a:solidFill>
            <a:srgbClr val="E7F0FA"/>
          </a:solidFill>
          <a:ln w="0">
            <a:noFill/>
          </a:ln>
        </p:spPr>
        <p:txBody>
          <a:bodyPr/>
          <a:lstStyle/>
          <a:p>
            <a:endParaRPr lang="en-CA"/>
          </a:p>
        </p:txBody>
      </p:sp>
      <p:sp>
        <p:nvSpPr>
          <p:cNvPr id="5" name="Rectangle 4">
            <a:extLst>
              <a:ext uri="{FF2B5EF4-FFF2-40B4-BE49-F238E27FC236}">
                <a16:creationId xmlns:a16="http://schemas.microsoft.com/office/drawing/2014/main" id="{FE8982D5-A5B6-4A36-A0F3-E16991FBC63A}"/>
              </a:ext>
            </a:extLst>
          </p:cNvPr>
          <p:cNvSpPr>
            <a:spLocks noGrp="1"/>
          </p:cNvSpPr>
          <p:nvPr/>
        </p:nvSpPr>
        <p:spPr>
          <a:xfrm>
            <a:off x="742950" y="1495425"/>
            <a:ext cx="2000250" cy="247650"/>
          </a:xfrm>
          <a:prstGeom prst="rect">
            <a:avLst/>
          </a:prstGeom>
          <a:noFill/>
          <a:ln w="0">
            <a:noFill/>
          </a:ln>
        </p:spPr>
        <p:txBody>
          <a:bodyPr wrap="square" lIns="0" tIns="0" rIns="0" bIns="0" anchor="t">
            <a:normAutofit/>
          </a:bodyPr>
          <a:lstStyle/>
          <a:p>
            <a:pPr algn="l">
              <a:defRPr sz="1350" b="1">
                <a:solidFill>
                  <a:srgbClr val="12355B"/>
                </a:solidFill>
                <a:latin typeface="DejaVu Sans"/>
                <a:ea typeface="DejaVu Sans"/>
                <a:cs typeface="DejaVu Sans"/>
              </a:defRPr>
            </a:pPr>
            <a:r>
              <a:rPr sz="1350" b="1">
                <a:solidFill>
                  <a:srgbClr val="12355B"/>
                </a:solidFill>
                <a:latin typeface="DejaVu Sans"/>
                <a:ea typeface="DejaVu Sans"/>
                <a:cs typeface="DejaVu Sans"/>
              </a:rPr>
              <a:t>Night before</a:t>
            </a:r>
          </a:p>
        </p:txBody>
      </p:sp>
      <p:sp>
        <p:nvSpPr>
          <p:cNvPr id="6" name="Rectangle 5">
            <a:extLst>
              <a:ext uri="{FF2B5EF4-FFF2-40B4-BE49-F238E27FC236}">
                <a16:creationId xmlns:a16="http://schemas.microsoft.com/office/drawing/2014/main" id="{5C09B994-B159-4201-9152-ABEE6A3C3AFF}"/>
              </a:ext>
            </a:extLst>
          </p:cNvPr>
          <p:cNvSpPr>
            <a:spLocks noGrp="1"/>
          </p:cNvSpPr>
          <p:nvPr/>
        </p:nvSpPr>
        <p:spPr>
          <a:xfrm>
            <a:off x="2990850" y="1381125"/>
            <a:ext cx="3048000" cy="4191000"/>
          </a:xfrm>
          <a:prstGeom prst="rect">
            <a:avLst/>
          </a:prstGeom>
          <a:solidFill>
            <a:srgbClr val="E4F4F3"/>
          </a:solidFill>
          <a:ln w="0">
            <a:noFill/>
          </a:ln>
        </p:spPr>
        <p:txBody>
          <a:bodyPr/>
          <a:lstStyle/>
          <a:p>
            <a:endParaRPr lang="en-CA"/>
          </a:p>
        </p:txBody>
      </p:sp>
      <p:sp>
        <p:nvSpPr>
          <p:cNvPr id="7" name="Rectangle 6">
            <a:extLst>
              <a:ext uri="{FF2B5EF4-FFF2-40B4-BE49-F238E27FC236}">
                <a16:creationId xmlns:a16="http://schemas.microsoft.com/office/drawing/2014/main" id="{26273BFA-0767-451B-9034-2712C1BDB4E5}"/>
              </a:ext>
            </a:extLst>
          </p:cNvPr>
          <p:cNvSpPr>
            <a:spLocks noGrp="1"/>
          </p:cNvSpPr>
          <p:nvPr/>
        </p:nvSpPr>
        <p:spPr>
          <a:xfrm>
            <a:off x="3124200" y="1495425"/>
            <a:ext cx="2781300" cy="247650"/>
          </a:xfrm>
          <a:prstGeom prst="rect">
            <a:avLst/>
          </a:prstGeom>
          <a:noFill/>
          <a:ln w="0">
            <a:noFill/>
          </a:ln>
        </p:spPr>
        <p:txBody>
          <a:bodyPr wrap="square" lIns="0" tIns="0" rIns="0" bIns="0" anchor="t">
            <a:normAutofit/>
          </a:bodyPr>
          <a:lstStyle/>
          <a:p>
            <a:pPr algn="l">
              <a:defRPr sz="1350" b="1">
                <a:solidFill>
                  <a:srgbClr val="12355B"/>
                </a:solidFill>
                <a:latin typeface="DejaVu Sans"/>
                <a:ea typeface="DejaVu Sans"/>
                <a:cs typeface="DejaVu Sans"/>
              </a:defRPr>
            </a:pPr>
            <a:r>
              <a:rPr sz="1350" b="1">
                <a:solidFill>
                  <a:srgbClr val="12355B"/>
                </a:solidFill>
                <a:latin typeface="DejaVu Sans"/>
                <a:ea typeface="DejaVu Sans"/>
                <a:cs typeface="DejaVu Sans"/>
              </a:rPr>
              <a:t>Morning trading and bidding</a:t>
            </a:r>
          </a:p>
        </p:txBody>
      </p:sp>
      <p:sp>
        <p:nvSpPr>
          <p:cNvPr id="8" name="Rectangle 7">
            <a:extLst>
              <a:ext uri="{FF2B5EF4-FFF2-40B4-BE49-F238E27FC236}">
                <a16:creationId xmlns:a16="http://schemas.microsoft.com/office/drawing/2014/main" id="{68A0749A-B00B-4E92-950E-3290EA120BE8}"/>
              </a:ext>
            </a:extLst>
          </p:cNvPr>
          <p:cNvSpPr>
            <a:spLocks noGrp="1"/>
          </p:cNvSpPr>
          <p:nvPr/>
        </p:nvSpPr>
        <p:spPr>
          <a:xfrm>
            <a:off x="6153150" y="1381125"/>
            <a:ext cx="2628900" cy="4191000"/>
          </a:xfrm>
          <a:prstGeom prst="rect">
            <a:avLst/>
          </a:prstGeom>
          <a:solidFill>
            <a:srgbClr val="FBEEE1"/>
          </a:solidFill>
          <a:ln w="0">
            <a:noFill/>
          </a:ln>
        </p:spPr>
        <p:txBody>
          <a:bodyPr/>
          <a:lstStyle/>
          <a:p>
            <a:endParaRPr lang="en-CA"/>
          </a:p>
        </p:txBody>
      </p:sp>
      <p:sp>
        <p:nvSpPr>
          <p:cNvPr id="9" name="Rectangle 8">
            <a:extLst>
              <a:ext uri="{FF2B5EF4-FFF2-40B4-BE49-F238E27FC236}">
                <a16:creationId xmlns:a16="http://schemas.microsoft.com/office/drawing/2014/main" id="{18E96F60-97FD-4F5A-A493-5A01EACB6734}"/>
              </a:ext>
            </a:extLst>
          </p:cNvPr>
          <p:cNvSpPr>
            <a:spLocks noGrp="1"/>
          </p:cNvSpPr>
          <p:nvPr/>
        </p:nvSpPr>
        <p:spPr>
          <a:xfrm>
            <a:off x="6286500" y="1495425"/>
            <a:ext cx="2362200" cy="247650"/>
          </a:xfrm>
          <a:prstGeom prst="rect">
            <a:avLst/>
          </a:prstGeom>
          <a:noFill/>
          <a:ln w="0">
            <a:noFill/>
          </a:ln>
        </p:spPr>
        <p:txBody>
          <a:bodyPr wrap="square" lIns="0" tIns="0" rIns="0" bIns="0" anchor="t">
            <a:normAutofit/>
          </a:bodyPr>
          <a:lstStyle/>
          <a:p>
            <a:pPr algn="l">
              <a:defRPr sz="1350" b="1">
                <a:solidFill>
                  <a:srgbClr val="12355B"/>
                </a:solidFill>
                <a:latin typeface="DejaVu Sans"/>
                <a:ea typeface="DejaVu Sans"/>
                <a:cs typeface="DejaVu Sans"/>
              </a:defRPr>
            </a:pPr>
            <a:r>
              <a:rPr sz="1350" b="1">
                <a:solidFill>
                  <a:srgbClr val="12355B"/>
                </a:solidFill>
                <a:latin typeface="DejaVu Sans"/>
                <a:ea typeface="DejaVu Sans"/>
                <a:cs typeface="DejaVu Sans"/>
              </a:rPr>
              <a:t>Scheduling and tagging</a:t>
            </a:r>
          </a:p>
        </p:txBody>
      </p:sp>
      <p:sp>
        <p:nvSpPr>
          <p:cNvPr id="10" name="Rectangle 9">
            <a:extLst>
              <a:ext uri="{FF2B5EF4-FFF2-40B4-BE49-F238E27FC236}">
                <a16:creationId xmlns:a16="http://schemas.microsoft.com/office/drawing/2014/main" id="{3D10914D-B9FA-4498-9A74-BA81A32D8189}"/>
              </a:ext>
            </a:extLst>
          </p:cNvPr>
          <p:cNvSpPr>
            <a:spLocks noGrp="1"/>
          </p:cNvSpPr>
          <p:nvPr/>
        </p:nvSpPr>
        <p:spPr>
          <a:xfrm>
            <a:off x="8896350" y="1381125"/>
            <a:ext cx="2686050" cy="4191000"/>
          </a:xfrm>
          <a:prstGeom prst="rect">
            <a:avLst/>
          </a:prstGeom>
          <a:solidFill>
            <a:srgbClr val="E7F3ED"/>
          </a:solidFill>
          <a:ln w="0">
            <a:noFill/>
          </a:ln>
        </p:spPr>
        <p:txBody>
          <a:bodyPr/>
          <a:lstStyle/>
          <a:p>
            <a:endParaRPr lang="en-CA"/>
          </a:p>
        </p:txBody>
      </p:sp>
      <p:sp>
        <p:nvSpPr>
          <p:cNvPr id="11" name="Rectangle 10">
            <a:extLst>
              <a:ext uri="{FF2B5EF4-FFF2-40B4-BE49-F238E27FC236}">
                <a16:creationId xmlns:a16="http://schemas.microsoft.com/office/drawing/2014/main" id="{1085100F-B9AF-427B-9A75-6B22D009027C}"/>
              </a:ext>
            </a:extLst>
          </p:cNvPr>
          <p:cNvSpPr>
            <a:spLocks noGrp="1"/>
          </p:cNvSpPr>
          <p:nvPr/>
        </p:nvSpPr>
        <p:spPr>
          <a:xfrm>
            <a:off x="9029700" y="1495425"/>
            <a:ext cx="2419350" cy="247650"/>
          </a:xfrm>
          <a:prstGeom prst="rect">
            <a:avLst/>
          </a:prstGeom>
          <a:noFill/>
          <a:ln w="0">
            <a:noFill/>
          </a:ln>
        </p:spPr>
        <p:txBody>
          <a:bodyPr wrap="square" lIns="0" tIns="0" rIns="0" bIns="0" anchor="t">
            <a:normAutofit/>
          </a:bodyPr>
          <a:lstStyle/>
          <a:p>
            <a:pPr algn="l">
              <a:defRPr sz="1350" b="1">
                <a:solidFill>
                  <a:srgbClr val="12355B"/>
                </a:solidFill>
                <a:latin typeface="DejaVu Sans"/>
                <a:ea typeface="DejaVu Sans"/>
                <a:cs typeface="DejaVu Sans"/>
              </a:defRPr>
            </a:pPr>
            <a:r>
              <a:rPr sz="1350" b="1">
                <a:solidFill>
                  <a:srgbClr val="12355B"/>
                </a:solidFill>
                <a:latin typeface="DejaVu Sans"/>
                <a:ea typeface="DejaVu Sans"/>
                <a:cs typeface="DejaVu Sans"/>
              </a:rPr>
              <a:t>Closeout and RT handoff</a:t>
            </a:r>
          </a:p>
        </p:txBody>
      </p:sp>
      <p:sp>
        <p:nvSpPr>
          <p:cNvPr id="12" name="Rectangle: Rounded Corners 11">
            <a:extLst>
              <a:ext uri="{FF2B5EF4-FFF2-40B4-BE49-F238E27FC236}">
                <a16:creationId xmlns:a16="http://schemas.microsoft.com/office/drawing/2014/main" id="{97305927-02A3-40FD-9511-F0432B38292D}"/>
              </a:ext>
            </a:extLst>
          </p:cNvPr>
          <p:cNvSpPr>
            <a:spLocks noGrp="1"/>
          </p:cNvSpPr>
          <p:nvPr/>
        </p:nvSpPr>
        <p:spPr>
          <a:xfrm>
            <a:off x="781050" y="1933575"/>
            <a:ext cx="1924050" cy="781050"/>
          </a:xfrm>
          <a:prstGeom prst="roundRect">
            <a:avLst>
              <a:gd name="adj" fmla="val 12195"/>
            </a:avLst>
          </a:prstGeom>
          <a:solidFill>
            <a:srgbClr val="FFFFFF"/>
          </a:solidFill>
          <a:ln w="9525">
            <a:solidFill>
              <a:srgbClr val="C9D4DF"/>
            </a:solidFill>
            <a:prstDash val="solid"/>
          </a:ln>
        </p:spPr>
        <p:txBody>
          <a:bodyPr/>
          <a:lstStyle/>
          <a:p>
            <a:endParaRPr lang="en-CA"/>
          </a:p>
        </p:txBody>
      </p:sp>
      <p:sp>
        <p:nvSpPr>
          <p:cNvPr id="13" name="Rectangle 12">
            <a:extLst>
              <a:ext uri="{FF2B5EF4-FFF2-40B4-BE49-F238E27FC236}">
                <a16:creationId xmlns:a16="http://schemas.microsoft.com/office/drawing/2014/main" id="{367ABF80-EAA4-4892-9895-F3432170AFAB}"/>
              </a:ext>
            </a:extLst>
          </p:cNvPr>
          <p:cNvSpPr>
            <a:spLocks noGrp="1"/>
          </p:cNvSpPr>
          <p:nvPr/>
        </p:nvSpPr>
        <p:spPr>
          <a:xfrm>
            <a:off x="895350" y="2028825"/>
            <a:ext cx="16954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Strategy</a:t>
            </a:r>
          </a:p>
        </p:txBody>
      </p:sp>
      <p:sp>
        <p:nvSpPr>
          <p:cNvPr id="14" name="Rectangle 13">
            <a:extLst>
              <a:ext uri="{FF2B5EF4-FFF2-40B4-BE49-F238E27FC236}">
                <a16:creationId xmlns:a16="http://schemas.microsoft.com/office/drawing/2014/main" id="{AE8001C5-7BB2-407D-ADA7-444627014B14}"/>
              </a:ext>
            </a:extLst>
          </p:cNvPr>
          <p:cNvSpPr>
            <a:spLocks noGrp="1"/>
          </p:cNvSpPr>
          <p:nvPr/>
        </p:nvSpPr>
        <p:spPr>
          <a:xfrm>
            <a:off x="895350" y="2266950"/>
            <a:ext cx="169545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Open term positions and daily opportunities</a:t>
            </a:r>
          </a:p>
        </p:txBody>
      </p:sp>
      <p:sp>
        <p:nvSpPr>
          <p:cNvPr id="15" name="Rectangle: Rounded Corners 14">
            <a:extLst>
              <a:ext uri="{FF2B5EF4-FFF2-40B4-BE49-F238E27FC236}">
                <a16:creationId xmlns:a16="http://schemas.microsoft.com/office/drawing/2014/main" id="{B0379B8E-9B8C-4F5A-A5A1-B65B997B9F36}"/>
              </a:ext>
            </a:extLst>
          </p:cNvPr>
          <p:cNvSpPr>
            <a:spLocks noGrp="1"/>
          </p:cNvSpPr>
          <p:nvPr/>
        </p:nvSpPr>
        <p:spPr>
          <a:xfrm>
            <a:off x="781050" y="3048000"/>
            <a:ext cx="1924050" cy="781050"/>
          </a:xfrm>
          <a:prstGeom prst="roundRect">
            <a:avLst>
              <a:gd name="adj" fmla="val 12195"/>
            </a:avLst>
          </a:prstGeom>
          <a:solidFill>
            <a:srgbClr val="FFFFFF"/>
          </a:solidFill>
          <a:ln w="9525">
            <a:solidFill>
              <a:srgbClr val="B42318"/>
            </a:solidFill>
            <a:prstDash val="solid"/>
          </a:ln>
        </p:spPr>
        <p:txBody>
          <a:bodyPr/>
          <a:lstStyle/>
          <a:p>
            <a:endParaRPr lang="en-CA"/>
          </a:p>
        </p:txBody>
      </p:sp>
      <p:sp>
        <p:nvSpPr>
          <p:cNvPr id="16" name="Rectangle 15">
            <a:extLst>
              <a:ext uri="{FF2B5EF4-FFF2-40B4-BE49-F238E27FC236}">
                <a16:creationId xmlns:a16="http://schemas.microsoft.com/office/drawing/2014/main" id="{59B3AB2F-2D97-449C-B815-6C778B4ED959}"/>
              </a:ext>
            </a:extLst>
          </p:cNvPr>
          <p:cNvSpPr>
            <a:spLocks noGrp="1"/>
          </p:cNvSpPr>
          <p:nvPr/>
        </p:nvSpPr>
        <p:spPr>
          <a:xfrm>
            <a:off x="895350" y="3143250"/>
            <a:ext cx="16954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Strategy email</a:t>
            </a:r>
          </a:p>
        </p:txBody>
      </p:sp>
      <p:sp>
        <p:nvSpPr>
          <p:cNvPr id="17" name="Rectangle 16">
            <a:extLst>
              <a:ext uri="{FF2B5EF4-FFF2-40B4-BE49-F238E27FC236}">
                <a16:creationId xmlns:a16="http://schemas.microsoft.com/office/drawing/2014/main" id="{FBB2DBCD-4C11-402D-82E2-AB6DBDA8852F}"/>
              </a:ext>
            </a:extLst>
          </p:cNvPr>
          <p:cNvSpPr>
            <a:spLocks noGrp="1"/>
          </p:cNvSpPr>
          <p:nvPr/>
        </p:nvSpPr>
        <p:spPr>
          <a:xfrm>
            <a:off x="895350" y="3381375"/>
            <a:ext cx="169545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Context shared with the team</a:t>
            </a:r>
          </a:p>
        </p:txBody>
      </p:sp>
      <p:cxnSp>
        <p:nvCxnSpPr>
          <p:cNvPr id="92" name="Straight Arrow Connector 91"/>
          <p:cNvCxnSpPr>
            <a:stCxn id="12" idx="2"/>
            <a:endCxn id="15" idx="0"/>
          </p:cNvCxnSpPr>
          <p:nvPr/>
        </p:nvCxnSpPr>
        <p:spPr>
          <a:xfrm>
            <a:off x="1743075" y="2714625"/>
            <a:ext cx="0" cy="333375"/>
          </a:xfrm>
          <a:prstGeom prst="straightConnector1">
            <a:avLst/>
          </a:prstGeom>
          <a:ln w="19050">
            <a:solidFill>
              <a:srgbClr val="12355B"/>
            </a:solidFill>
            <a:prstDash val="solid"/>
            <a:headEnd type="none" w="med" len="med"/>
            <a:tailEnd type="triangle" w="sm" len="sm"/>
          </a:ln>
        </p:spPr>
      </p:cxnSp>
      <p:sp>
        <p:nvSpPr>
          <p:cNvPr id="19" name="Rectangle: Rounded Corners 18">
            <a:extLst>
              <a:ext uri="{FF2B5EF4-FFF2-40B4-BE49-F238E27FC236}">
                <a16:creationId xmlns:a16="http://schemas.microsoft.com/office/drawing/2014/main" id="{3A8D9D4E-020C-4982-97C4-A2E30608264B}"/>
              </a:ext>
            </a:extLst>
          </p:cNvPr>
          <p:cNvSpPr>
            <a:spLocks noGrp="1"/>
          </p:cNvSpPr>
          <p:nvPr/>
        </p:nvSpPr>
        <p:spPr>
          <a:xfrm>
            <a:off x="3181350" y="1933575"/>
            <a:ext cx="1276350" cy="876300"/>
          </a:xfrm>
          <a:prstGeom prst="roundRect">
            <a:avLst>
              <a:gd name="adj" fmla="val 10870"/>
            </a:avLst>
          </a:prstGeom>
          <a:solidFill>
            <a:srgbClr val="FFFFFF"/>
          </a:solidFill>
          <a:ln w="9525">
            <a:solidFill>
              <a:srgbClr val="C9D4DF"/>
            </a:solidFill>
            <a:prstDash val="solid"/>
          </a:ln>
        </p:spPr>
        <p:txBody>
          <a:bodyPr/>
          <a:lstStyle/>
          <a:p>
            <a:endParaRPr lang="en-CA"/>
          </a:p>
        </p:txBody>
      </p:sp>
      <p:sp>
        <p:nvSpPr>
          <p:cNvPr id="20" name="Rectangle 19">
            <a:extLst>
              <a:ext uri="{FF2B5EF4-FFF2-40B4-BE49-F238E27FC236}">
                <a16:creationId xmlns:a16="http://schemas.microsoft.com/office/drawing/2014/main" id="{A01AA92E-F697-4096-8E8F-B1AE7D145010}"/>
              </a:ext>
            </a:extLst>
          </p:cNvPr>
          <p:cNvSpPr>
            <a:spLocks noGrp="1"/>
          </p:cNvSpPr>
          <p:nvPr/>
        </p:nvSpPr>
        <p:spPr>
          <a:xfrm>
            <a:off x="3295650" y="2028825"/>
            <a:ext cx="10477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Trade</a:t>
            </a:r>
          </a:p>
        </p:txBody>
      </p:sp>
      <p:sp>
        <p:nvSpPr>
          <p:cNvPr id="21" name="Rectangle 20">
            <a:extLst>
              <a:ext uri="{FF2B5EF4-FFF2-40B4-BE49-F238E27FC236}">
                <a16:creationId xmlns:a16="http://schemas.microsoft.com/office/drawing/2014/main" id="{514D32B0-AFB9-42CD-BFF9-D66B67ACD2EE}"/>
              </a:ext>
            </a:extLst>
          </p:cNvPr>
          <p:cNvSpPr>
            <a:spLocks noGrp="1"/>
          </p:cNvSpPr>
          <p:nvPr/>
        </p:nvSpPr>
        <p:spPr>
          <a:xfrm>
            <a:off x="3295650" y="2266950"/>
            <a:ext cx="1047750" cy="46672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ICE, ICE Chat or phone</a:t>
            </a:r>
          </a:p>
        </p:txBody>
      </p:sp>
      <p:sp>
        <p:nvSpPr>
          <p:cNvPr id="22" name="Rectangle: Rounded Corners 21">
            <a:extLst>
              <a:ext uri="{FF2B5EF4-FFF2-40B4-BE49-F238E27FC236}">
                <a16:creationId xmlns:a16="http://schemas.microsoft.com/office/drawing/2014/main" id="{2431B14E-484F-452D-9448-3EEF2EFE71D5}"/>
              </a:ext>
            </a:extLst>
          </p:cNvPr>
          <p:cNvSpPr>
            <a:spLocks noGrp="1"/>
          </p:cNvSpPr>
          <p:nvPr/>
        </p:nvSpPr>
        <p:spPr>
          <a:xfrm>
            <a:off x="4648200" y="1933575"/>
            <a:ext cx="1200150" cy="876300"/>
          </a:xfrm>
          <a:prstGeom prst="roundRect">
            <a:avLst>
              <a:gd name="adj" fmla="val 10870"/>
            </a:avLst>
          </a:prstGeom>
          <a:solidFill>
            <a:srgbClr val="FFFFFF"/>
          </a:solidFill>
          <a:ln w="9525">
            <a:solidFill>
              <a:srgbClr val="B42318"/>
            </a:solidFill>
            <a:prstDash val="solid"/>
          </a:ln>
        </p:spPr>
        <p:txBody>
          <a:bodyPr/>
          <a:lstStyle/>
          <a:p>
            <a:endParaRPr lang="en-CA"/>
          </a:p>
        </p:txBody>
      </p:sp>
      <p:sp>
        <p:nvSpPr>
          <p:cNvPr id="23" name="Rectangle 22">
            <a:extLst>
              <a:ext uri="{FF2B5EF4-FFF2-40B4-BE49-F238E27FC236}">
                <a16:creationId xmlns:a16="http://schemas.microsoft.com/office/drawing/2014/main" id="{CD4F0B39-F303-452B-95F7-94302067E717}"/>
              </a:ext>
            </a:extLst>
          </p:cNvPr>
          <p:cNvSpPr>
            <a:spLocks noGrp="1"/>
          </p:cNvSpPr>
          <p:nvPr/>
        </p:nvSpPr>
        <p:spPr>
          <a:xfrm>
            <a:off x="4762500" y="2028825"/>
            <a:ext cx="9715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Record</a:t>
            </a:r>
          </a:p>
        </p:txBody>
      </p:sp>
      <p:sp>
        <p:nvSpPr>
          <p:cNvPr id="24" name="Rectangle 23">
            <a:extLst>
              <a:ext uri="{FF2B5EF4-FFF2-40B4-BE49-F238E27FC236}">
                <a16:creationId xmlns:a16="http://schemas.microsoft.com/office/drawing/2014/main" id="{2B0BC697-1B72-4C30-BD12-8DA78333F573}"/>
              </a:ext>
            </a:extLst>
          </p:cNvPr>
          <p:cNvSpPr>
            <a:spLocks noGrp="1"/>
          </p:cNvSpPr>
          <p:nvPr/>
        </p:nvSpPr>
        <p:spPr>
          <a:xfrm>
            <a:off x="4762500" y="2266950"/>
            <a:ext cx="971550" cy="46672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Notebook or TXT</a:t>
            </a:r>
          </a:p>
        </p:txBody>
      </p:sp>
      <p:cxnSp>
        <p:nvCxnSpPr>
          <p:cNvPr id="99" name="Straight Arrow Connector 98"/>
          <p:cNvCxnSpPr>
            <a:stCxn id="19" idx="3"/>
            <a:endCxn id="22" idx="1"/>
          </p:cNvCxnSpPr>
          <p:nvPr/>
        </p:nvCxnSpPr>
        <p:spPr>
          <a:xfrm>
            <a:off x="4457700" y="2371725"/>
            <a:ext cx="190500" cy="0"/>
          </a:xfrm>
          <a:prstGeom prst="straightConnector1">
            <a:avLst/>
          </a:prstGeom>
          <a:ln w="19050">
            <a:solidFill>
              <a:srgbClr val="12355B"/>
            </a:solidFill>
            <a:prstDash val="solid"/>
            <a:headEnd type="none" w="med" len="med"/>
            <a:tailEnd type="triangle" w="sm" len="sm"/>
          </a:ln>
        </p:spPr>
      </p:cxnSp>
      <p:sp>
        <p:nvSpPr>
          <p:cNvPr id="26" name="Rectangle: Rounded Corners 25">
            <a:extLst>
              <a:ext uri="{FF2B5EF4-FFF2-40B4-BE49-F238E27FC236}">
                <a16:creationId xmlns:a16="http://schemas.microsoft.com/office/drawing/2014/main" id="{3945279A-18C4-40A2-BEC9-BE181AB90712}"/>
              </a:ext>
            </a:extLst>
          </p:cNvPr>
          <p:cNvSpPr>
            <a:spLocks noGrp="1"/>
          </p:cNvSpPr>
          <p:nvPr/>
        </p:nvSpPr>
        <p:spPr>
          <a:xfrm>
            <a:off x="3181350" y="3181350"/>
            <a:ext cx="1276350" cy="952500"/>
          </a:xfrm>
          <a:prstGeom prst="roundRect">
            <a:avLst>
              <a:gd name="adj" fmla="val 10000"/>
            </a:avLst>
          </a:prstGeom>
          <a:solidFill>
            <a:srgbClr val="FFFFFF"/>
          </a:solidFill>
          <a:ln w="9525">
            <a:solidFill>
              <a:srgbClr val="B42318"/>
            </a:solidFill>
            <a:prstDash val="solid"/>
          </a:ln>
        </p:spPr>
        <p:txBody>
          <a:bodyPr/>
          <a:lstStyle/>
          <a:p>
            <a:endParaRPr lang="en-CA"/>
          </a:p>
        </p:txBody>
      </p:sp>
      <p:sp>
        <p:nvSpPr>
          <p:cNvPr id="27" name="Rectangle 26">
            <a:extLst>
              <a:ext uri="{FF2B5EF4-FFF2-40B4-BE49-F238E27FC236}">
                <a16:creationId xmlns:a16="http://schemas.microsoft.com/office/drawing/2014/main" id="{33E21215-69A7-4DFF-BAF5-F79AD469AC3D}"/>
              </a:ext>
            </a:extLst>
          </p:cNvPr>
          <p:cNvSpPr>
            <a:spLocks noGrp="1"/>
          </p:cNvSpPr>
          <p:nvPr/>
        </p:nvSpPr>
        <p:spPr>
          <a:xfrm>
            <a:off x="3295650" y="3276600"/>
            <a:ext cx="10477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Match</a:t>
            </a:r>
          </a:p>
        </p:txBody>
      </p:sp>
      <p:sp>
        <p:nvSpPr>
          <p:cNvPr id="28" name="Rectangle 27">
            <a:extLst>
              <a:ext uri="{FF2B5EF4-FFF2-40B4-BE49-F238E27FC236}">
                <a16:creationId xmlns:a16="http://schemas.microsoft.com/office/drawing/2014/main" id="{E6EECFE1-CFC4-4A39-8EA7-D5A941035CCD}"/>
              </a:ext>
            </a:extLst>
          </p:cNvPr>
          <p:cNvSpPr>
            <a:spLocks noGrp="1"/>
          </p:cNvSpPr>
          <p:nvPr/>
        </p:nvSpPr>
        <p:spPr>
          <a:xfrm>
            <a:off x="3295650" y="3514725"/>
            <a:ext cx="1047750" cy="542925"/>
          </a:xfrm>
          <a:prstGeom prst="rect">
            <a:avLst/>
          </a:prstGeom>
          <a:noFill/>
          <a:ln w="0">
            <a:noFill/>
          </a:ln>
        </p:spPr>
        <p:txBody>
          <a:bodyPr wrap="square" lIns="0" tIns="0" rIns="0" bIns="0" anchor="t">
            <a:normAutofit fontScale="81859"/>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Buy to sell and assess transmission mentally</a:t>
            </a:r>
          </a:p>
        </p:txBody>
      </p:sp>
      <p:sp>
        <p:nvSpPr>
          <p:cNvPr id="29" name="Rectangle: Rounded Corners 28">
            <a:extLst>
              <a:ext uri="{FF2B5EF4-FFF2-40B4-BE49-F238E27FC236}">
                <a16:creationId xmlns:a16="http://schemas.microsoft.com/office/drawing/2014/main" id="{D0D1B5F7-7E43-412D-8720-37F291E39B9F}"/>
              </a:ext>
            </a:extLst>
          </p:cNvPr>
          <p:cNvSpPr>
            <a:spLocks noGrp="1"/>
          </p:cNvSpPr>
          <p:nvPr/>
        </p:nvSpPr>
        <p:spPr>
          <a:xfrm>
            <a:off x="4648200" y="3181350"/>
            <a:ext cx="1200150" cy="952500"/>
          </a:xfrm>
          <a:prstGeom prst="roundRect">
            <a:avLst>
              <a:gd name="adj" fmla="val 10000"/>
            </a:avLst>
          </a:prstGeom>
          <a:solidFill>
            <a:srgbClr val="FFFFFF"/>
          </a:solidFill>
          <a:ln w="9525">
            <a:solidFill>
              <a:srgbClr val="C9D4DF"/>
            </a:solidFill>
            <a:prstDash val="solid"/>
          </a:ln>
        </p:spPr>
        <p:txBody>
          <a:bodyPr/>
          <a:lstStyle/>
          <a:p>
            <a:endParaRPr lang="en-CA"/>
          </a:p>
        </p:txBody>
      </p:sp>
      <p:sp>
        <p:nvSpPr>
          <p:cNvPr id="30" name="Rectangle 29">
            <a:extLst>
              <a:ext uri="{FF2B5EF4-FFF2-40B4-BE49-F238E27FC236}">
                <a16:creationId xmlns:a16="http://schemas.microsoft.com/office/drawing/2014/main" id="{DC924D44-3F6B-4BF6-AFA8-069C55641CF2}"/>
              </a:ext>
            </a:extLst>
          </p:cNvPr>
          <p:cNvSpPr>
            <a:spLocks noGrp="1"/>
          </p:cNvSpPr>
          <p:nvPr/>
        </p:nvSpPr>
        <p:spPr>
          <a:xfrm>
            <a:off x="4762500" y="3276600"/>
            <a:ext cx="9715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Bid</a:t>
            </a:r>
          </a:p>
        </p:txBody>
      </p:sp>
      <p:sp>
        <p:nvSpPr>
          <p:cNvPr id="31" name="Rectangle 30">
            <a:extLst>
              <a:ext uri="{FF2B5EF4-FFF2-40B4-BE49-F238E27FC236}">
                <a16:creationId xmlns:a16="http://schemas.microsoft.com/office/drawing/2014/main" id="{64841774-0FC7-4AA9-B2AC-BC4C2C96C4E0}"/>
              </a:ext>
            </a:extLst>
          </p:cNvPr>
          <p:cNvSpPr>
            <a:spLocks noGrp="1"/>
          </p:cNvSpPr>
          <p:nvPr/>
        </p:nvSpPr>
        <p:spPr>
          <a:xfrm>
            <a:off x="4762500" y="3514725"/>
            <a:ext cx="971550" cy="54292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Excel files and MAGTrade</a:t>
            </a:r>
          </a:p>
        </p:txBody>
      </p:sp>
      <p:cxnSp>
        <p:nvCxnSpPr>
          <p:cNvPr id="106" name="Connector: Elbow 105"/>
          <p:cNvCxnSpPr>
            <a:stCxn id="22" idx="2"/>
            <a:endCxn id="26" idx="0"/>
          </p:cNvCxnSpPr>
          <p:nvPr/>
        </p:nvCxnSpPr>
        <p:spPr>
          <a:xfrm flipH="1">
            <a:off x="3819525" y="2809875"/>
            <a:ext cx="1428750" cy="371475"/>
          </a:xfrm>
          <a:prstGeom prst="bentConnector4">
            <a:avLst>
              <a:gd name="adj1" fmla="val 0"/>
              <a:gd name="adj2" fmla="val 50000"/>
            </a:avLst>
          </a:prstGeom>
          <a:ln w="19050">
            <a:solidFill>
              <a:srgbClr val="12355B"/>
            </a:solidFill>
            <a:prstDash val="solid"/>
            <a:headEnd type="none" w="med" len="med"/>
            <a:tailEnd type="triangle" w="sm" len="sm"/>
          </a:ln>
        </p:spPr>
      </p:cxnSp>
      <p:cxnSp>
        <p:nvCxnSpPr>
          <p:cNvPr id="107" name="Straight Arrow Connector 106"/>
          <p:cNvCxnSpPr>
            <a:stCxn id="26" idx="3"/>
            <a:endCxn id="29" idx="1"/>
          </p:cNvCxnSpPr>
          <p:nvPr/>
        </p:nvCxnSpPr>
        <p:spPr>
          <a:xfrm>
            <a:off x="4457700" y="3657600"/>
            <a:ext cx="190500" cy="0"/>
          </a:xfrm>
          <a:prstGeom prst="straightConnector1">
            <a:avLst/>
          </a:prstGeom>
          <a:ln w="19050">
            <a:solidFill>
              <a:srgbClr val="12355B"/>
            </a:solidFill>
            <a:prstDash val="solid"/>
            <a:headEnd type="none" w="med" len="med"/>
            <a:tailEnd type="triangle" w="sm" len="sm"/>
          </a:ln>
        </p:spPr>
      </p:cxnSp>
      <p:cxnSp>
        <p:nvCxnSpPr>
          <p:cNvPr id="108" name="Connector: Elbow 107"/>
          <p:cNvCxnSpPr>
            <a:stCxn id="29" idx="0"/>
            <a:endCxn id="19" idx="2"/>
          </p:cNvCxnSpPr>
          <p:nvPr/>
        </p:nvCxnSpPr>
        <p:spPr>
          <a:xfrm flipH="1" flipV="1">
            <a:off x="3819525" y="2809875"/>
            <a:ext cx="1428750" cy="371475"/>
          </a:xfrm>
          <a:prstGeom prst="bentConnector4">
            <a:avLst>
              <a:gd name="adj1" fmla="val 0"/>
              <a:gd name="adj2" fmla="val 50000"/>
            </a:avLst>
          </a:prstGeom>
          <a:ln w="19050">
            <a:solidFill>
              <a:srgbClr val="238C8C"/>
            </a:solidFill>
            <a:prstDash val="dash"/>
            <a:headEnd type="none" w="med" len="med"/>
            <a:tailEnd type="triangle" w="sm" len="sm"/>
          </a:ln>
        </p:spPr>
      </p:cxnSp>
      <p:sp>
        <p:nvSpPr>
          <p:cNvPr id="35" name="Rectangle 34">
            <a:extLst>
              <a:ext uri="{FF2B5EF4-FFF2-40B4-BE49-F238E27FC236}">
                <a16:creationId xmlns:a16="http://schemas.microsoft.com/office/drawing/2014/main" id="{D599A58B-7E19-438C-BA88-EE0622873100}"/>
              </a:ext>
            </a:extLst>
          </p:cNvPr>
          <p:cNvSpPr>
            <a:spLocks noGrp="1"/>
          </p:cNvSpPr>
          <p:nvPr/>
        </p:nvSpPr>
        <p:spPr>
          <a:xfrm>
            <a:off x="3219450" y="4391025"/>
            <a:ext cx="2571750" cy="323850"/>
          </a:xfrm>
          <a:prstGeom prst="rect">
            <a:avLst/>
          </a:prstGeom>
          <a:noFill/>
          <a:ln w="0">
            <a:noFill/>
          </a:ln>
        </p:spPr>
        <p:txBody>
          <a:bodyPr wrap="square" lIns="0" tIns="0" rIns="0" bIns="0" anchor="t">
            <a:normAutofit/>
          </a:bodyPr>
          <a:lstStyle/>
          <a:p>
            <a:pPr algn="ctr">
              <a:defRPr sz="1050" b="0">
                <a:solidFill>
                  <a:srgbClr val="238C8C"/>
                </a:solidFill>
                <a:latin typeface="DejaVu Sans"/>
                <a:ea typeface="DejaVu Sans"/>
                <a:cs typeface="DejaVu Sans"/>
              </a:defRPr>
            </a:pPr>
            <a:r>
              <a:rPr sz="1050" b="0">
                <a:solidFill>
                  <a:srgbClr val="238C8C"/>
                </a:solidFill>
                <a:latin typeface="DejaVu Sans"/>
                <a:ea typeface="DejaVu Sans"/>
                <a:cs typeface="DejaVu Sans"/>
              </a:rPr>
              <a:t>Repeated as positions and prices change</a:t>
            </a:r>
          </a:p>
        </p:txBody>
      </p:sp>
      <p:sp>
        <p:nvSpPr>
          <p:cNvPr id="36" name="Rectangle: Rounded Corners 35">
            <a:extLst>
              <a:ext uri="{FF2B5EF4-FFF2-40B4-BE49-F238E27FC236}">
                <a16:creationId xmlns:a16="http://schemas.microsoft.com/office/drawing/2014/main" id="{7FFAE72E-7764-43AD-8064-6509E429E35B}"/>
              </a:ext>
            </a:extLst>
          </p:cNvPr>
          <p:cNvSpPr>
            <a:spLocks noGrp="1"/>
          </p:cNvSpPr>
          <p:nvPr/>
        </p:nvSpPr>
        <p:spPr>
          <a:xfrm>
            <a:off x="6343650" y="1933575"/>
            <a:ext cx="2247900" cy="781050"/>
          </a:xfrm>
          <a:prstGeom prst="roundRect">
            <a:avLst>
              <a:gd name="adj" fmla="val 12195"/>
            </a:avLst>
          </a:prstGeom>
          <a:solidFill>
            <a:srgbClr val="FFFFFF"/>
          </a:solidFill>
          <a:ln w="9525">
            <a:solidFill>
              <a:srgbClr val="B42318"/>
            </a:solidFill>
            <a:prstDash val="solid"/>
          </a:ln>
        </p:spPr>
        <p:txBody>
          <a:bodyPr/>
          <a:lstStyle/>
          <a:p>
            <a:endParaRPr lang="en-CA"/>
          </a:p>
        </p:txBody>
      </p:sp>
      <p:sp>
        <p:nvSpPr>
          <p:cNvPr id="37" name="Rectangle 36">
            <a:extLst>
              <a:ext uri="{FF2B5EF4-FFF2-40B4-BE49-F238E27FC236}">
                <a16:creationId xmlns:a16="http://schemas.microsoft.com/office/drawing/2014/main" id="{FD97C1AE-CCC5-4D6F-A0BD-4146D122E5EA}"/>
              </a:ext>
            </a:extLst>
          </p:cNvPr>
          <p:cNvSpPr>
            <a:spLocks noGrp="1"/>
          </p:cNvSpPr>
          <p:nvPr/>
        </p:nvSpPr>
        <p:spPr>
          <a:xfrm>
            <a:off x="6457950" y="2028825"/>
            <a:ext cx="2019300" cy="238125"/>
          </a:xfrm>
          <a:prstGeom prst="rect">
            <a:avLst/>
          </a:prstGeom>
          <a:noFill/>
          <a:ln w="0">
            <a:noFill/>
          </a:ln>
        </p:spPr>
        <p:txBody>
          <a:bodyPr wrap="square" lIns="0" tIns="0" rIns="0" bIns="0" anchor="ctr">
            <a:normAutofit fontScale="64931"/>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Build physical and market paths</a:t>
            </a:r>
          </a:p>
        </p:txBody>
      </p:sp>
      <p:sp>
        <p:nvSpPr>
          <p:cNvPr id="38" name="Rectangle 37">
            <a:extLst>
              <a:ext uri="{FF2B5EF4-FFF2-40B4-BE49-F238E27FC236}">
                <a16:creationId xmlns:a16="http://schemas.microsoft.com/office/drawing/2014/main" id="{52B10E25-1F93-4AEA-B0AD-02F0B7351678}"/>
              </a:ext>
            </a:extLst>
          </p:cNvPr>
          <p:cNvSpPr>
            <a:spLocks noGrp="1"/>
          </p:cNvSpPr>
          <p:nvPr/>
        </p:nvSpPr>
        <p:spPr>
          <a:xfrm>
            <a:off x="6457950" y="2266950"/>
            <a:ext cx="201930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Coordinate strings with other schedulers</a:t>
            </a:r>
          </a:p>
        </p:txBody>
      </p:sp>
      <p:sp>
        <p:nvSpPr>
          <p:cNvPr id="39" name="Rectangle: Rounded Corners 38">
            <a:extLst>
              <a:ext uri="{FF2B5EF4-FFF2-40B4-BE49-F238E27FC236}">
                <a16:creationId xmlns:a16="http://schemas.microsoft.com/office/drawing/2014/main" id="{D666D14D-228A-4305-AF1E-ED7F1562D6B4}"/>
              </a:ext>
            </a:extLst>
          </p:cNvPr>
          <p:cNvSpPr>
            <a:spLocks noGrp="1"/>
          </p:cNvSpPr>
          <p:nvPr/>
        </p:nvSpPr>
        <p:spPr>
          <a:xfrm>
            <a:off x="6343650" y="3048000"/>
            <a:ext cx="1028700" cy="838200"/>
          </a:xfrm>
          <a:prstGeom prst="roundRect">
            <a:avLst>
              <a:gd name="adj" fmla="val 11364"/>
            </a:avLst>
          </a:prstGeom>
          <a:solidFill>
            <a:srgbClr val="FFFFFF"/>
          </a:solidFill>
          <a:ln w="9525">
            <a:solidFill>
              <a:srgbClr val="B42318"/>
            </a:solidFill>
            <a:prstDash val="solid"/>
          </a:ln>
        </p:spPr>
        <p:txBody>
          <a:bodyPr/>
          <a:lstStyle/>
          <a:p>
            <a:endParaRPr lang="en-CA"/>
          </a:p>
        </p:txBody>
      </p:sp>
      <p:sp>
        <p:nvSpPr>
          <p:cNvPr id="40" name="Rectangle 39">
            <a:extLst>
              <a:ext uri="{FF2B5EF4-FFF2-40B4-BE49-F238E27FC236}">
                <a16:creationId xmlns:a16="http://schemas.microsoft.com/office/drawing/2014/main" id="{38E1779B-8EC2-477D-957C-6DE9123397F9}"/>
              </a:ext>
            </a:extLst>
          </p:cNvPr>
          <p:cNvSpPr>
            <a:spLocks noGrp="1"/>
          </p:cNvSpPr>
          <p:nvPr/>
        </p:nvSpPr>
        <p:spPr>
          <a:xfrm>
            <a:off x="6457950" y="3143250"/>
            <a:ext cx="800100" cy="238125"/>
          </a:xfrm>
          <a:prstGeom prst="rect">
            <a:avLst/>
          </a:prstGeom>
          <a:noFill/>
          <a:ln w="0">
            <a:noFill/>
          </a:ln>
        </p:spPr>
        <p:txBody>
          <a:bodyPr wrap="square" lIns="0" tIns="0" rIns="0" bIns="0" anchor="ctr">
            <a:normAutofit fontScale="65104"/>
          </a:bodyPr>
          <a:lstStyle/>
          <a:p>
            <a:pPr algn="l">
              <a:defRPr sz="1200" b="1">
                <a:solidFill>
                  <a:srgbClr val="15283B"/>
                </a:solidFill>
                <a:latin typeface="DejaVu Sans"/>
                <a:ea typeface="DejaVu Sans"/>
                <a:cs typeface="DejaVu Sans"/>
              </a:defRPr>
            </a:pPr>
            <a:r>
              <a:rPr sz="1200" b="1">
                <a:solidFill>
                  <a:srgbClr val="15283B"/>
                </a:solidFill>
                <a:latin typeface="DejaVu Sans"/>
                <a:ea typeface="DejaVu Sans"/>
                <a:cs typeface="DejaVu Sans"/>
              </a:rPr>
              <a:t>Reserve transmission</a:t>
            </a:r>
          </a:p>
        </p:txBody>
      </p:sp>
      <p:sp>
        <p:nvSpPr>
          <p:cNvPr id="41" name="Rectangle 40">
            <a:extLst>
              <a:ext uri="{FF2B5EF4-FFF2-40B4-BE49-F238E27FC236}">
                <a16:creationId xmlns:a16="http://schemas.microsoft.com/office/drawing/2014/main" id="{D1EC26F3-67B1-4CF1-B539-B9F97B7C6DF4}"/>
              </a:ext>
            </a:extLst>
          </p:cNvPr>
          <p:cNvSpPr>
            <a:spLocks noGrp="1"/>
          </p:cNvSpPr>
          <p:nvPr/>
        </p:nvSpPr>
        <p:spPr>
          <a:xfrm>
            <a:off x="6457950" y="3381375"/>
            <a:ext cx="800100" cy="42862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Manual or robot</a:t>
            </a:r>
          </a:p>
        </p:txBody>
      </p:sp>
      <p:sp>
        <p:nvSpPr>
          <p:cNvPr id="42" name="Rectangle: Rounded Corners 41">
            <a:extLst>
              <a:ext uri="{FF2B5EF4-FFF2-40B4-BE49-F238E27FC236}">
                <a16:creationId xmlns:a16="http://schemas.microsoft.com/office/drawing/2014/main" id="{EE187B42-257A-4308-AE26-4E4EAFB65D15}"/>
              </a:ext>
            </a:extLst>
          </p:cNvPr>
          <p:cNvSpPr>
            <a:spLocks noGrp="1"/>
          </p:cNvSpPr>
          <p:nvPr/>
        </p:nvSpPr>
        <p:spPr>
          <a:xfrm>
            <a:off x="7562850" y="3048000"/>
            <a:ext cx="1028700" cy="838200"/>
          </a:xfrm>
          <a:prstGeom prst="roundRect">
            <a:avLst>
              <a:gd name="adj" fmla="val 11364"/>
            </a:avLst>
          </a:prstGeom>
          <a:solidFill>
            <a:srgbClr val="FFFFFF"/>
          </a:solidFill>
          <a:ln w="9525">
            <a:solidFill>
              <a:srgbClr val="B42318"/>
            </a:solidFill>
            <a:prstDash val="solid"/>
          </a:ln>
        </p:spPr>
        <p:txBody>
          <a:bodyPr/>
          <a:lstStyle/>
          <a:p>
            <a:endParaRPr lang="en-CA"/>
          </a:p>
        </p:txBody>
      </p:sp>
      <p:sp>
        <p:nvSpPr>
          <p:cNvPr id="43" name="Rectangle 42">
            <a:extLst>
              <a:ext uri="{FF2B5EF4-FFF2-40B4-BE49-F238E27FC236}">
                <a16:creationId xmlns:a16="http://schemas.microsoft.com/office/drawing/2014/main" id="{EEBD852C-0013-478A-9655-DAC401D1B5CA}"/>
              </a:ext>
            </a:extLst>
          </p:cNvPr>
          <p:cNvSpPr>
            <a:spLocks noGrp="1"/>
          </p:cNvSpPr>
          <p:nvPr/>
        </p:nvSpPr>
        <p:spPr>
          <a:xfrm>
            <a:off x="7677150" y="3143250"/>
            <a:ext cx="800100" cy="238125"/>
          </a:xfrm>
          <a:prstGeom prst="rect">
            <a:avLst/>
          </a:prstGeom>
          <a:noFill/>
          <a:ln w="0">
            <a:noFill/>
          </a:ln>
        </p:spPr>
        <p:txBody>
          <a:bodyPr wrap="square" lIns="0" tIns="0" rIns="0" bIns="0" anchor="ctr">
            <a:normAutofit fontScale="69141"/>
          </a:bodyPr>
          <a:lstStyle/>
          <a:p>
            <a:pPr algn="l">
              <a:defRPr sz="1200" b="1">
                <a:solidFill>
                  <a:srgbClr val="15283B"/>
                </a:solidFill>
                <a:latin typeface="DejaVu Sans"/>
                <a:ea typeface="DejaVu Sans"/>
                <a:cs typeface="DejaVu Sans"/>
              </a:defRPr>
            </a:pPr>
            <a:r>
              <a:rPr sz="1200" b="1">
                <a:solidFill>
                  <a:srgbClr val="15283B"/>
                </a:solidFill>
                <a:latin typeface="DejaVu Sans"/>
                <a:ea typeface="DejaVu Sans"/>
                <a:cs typeface="DejaVu Sans"/>
              </a:rPr>
              <a:t>Create E-Tags</a:t>
            </a:r>
          </a:p>
        </p:txBody>
      </p:sp>
      <p:sp>
        <p:nvSpPr>
          <p:cNvPr id="44" name="Rectangle 43">
            <a:extLst>
              <a:ext uri="{FF2B5EF4-FFF2-40B4-BE49-F238E27FC236}">
                <a16:creationId xmlns:a16="http://schemas.microsoft.com/office/drawing/2014/main" id="{F50D1523-1959-40DE-B1F1-5C10DDBEBF77}"/>
              </a:ext>
            </a:extLst>
          </p:cNvPr>
          <p:cNvSpPr>
            <a:spLocks noGrp="1"/>
          </p:cNvSpPr>
          <p:nvPr/>
        </p:nvSpPr>
        <p:spPr>
          <a:xfrm>
            <a:off x="7677150" y="3381375"/>
            <a:ext cx="800100" cy="42862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Excel to MAGTrade</a:t>
            </a:r>
          </a:p>
        </p:txBody>
      </p:sp>
      <p:cxnSp>
        <p:nvCxnSpPr>
          <p:cNvPr id="119" name="Connector: Elbow 118"/>
          <p:cNvCxnSpPr>
            <a:stCxn id="36" idx="2"/>
            <a:endCxn id="39" idx="0"/>
          </p:cNvCxnSpPr>
          <p:nvPr/>
        </p:nvCxnSpPr>
        <p:spPr>
          <a:xfrm flipH="1">
            <a:off x="6858000" y="2714625"/>
            <a:ext cx="609600" cy="333375"/>
          </a:xfrm>
          <a:prstGeom prst="bentConnector4">
            <a:avLst>
              <a:gd name="adj1" fmla="val 0"/>
              <a:gd name="adj2" fmla="val 50000"/>
            </a:avLst>
          </a:prstGeom>
          <a:ln w="19050">
            <a:solidFill>
              <a:srgbClr val="12355B"/>
            </a:solidFill>
            <a:prstDash val="solid"/>
            <a:headEnd type="none" w="med" len="med"/>
            <a:tailEnd type="triangle" w="sm" len="sm"/>
          </a:ln>
        </p:spPr>
      </p:cxnSp>
      <p:cxnSp>
        <p:nvCxnSpPr>
          <p:cNvPr id="120" name="Straight Arrow Connector 119"/>
          <p:cNvCxnSpPr>
            <a:stCxn id="39" idx="3"/>
            <a:endCxn id="42" idx="1"/>
          </p:cNvCxnSpPr>
          <p:nvPr/>
        </p:nvCxnSpPr>
        <p:spPr>
          <a:xfrm>
            <a:off x="7372350" y="3467100"/>
            <a:ext cx="190500" cy="0"/>
          </a:xfrm>
          <a:prstGeom prst="straightConnector1">
            <a:avLst/>
          </a:prstGeom>
          <a:ln w="19050">
            <a:solidFill>
              <a:srgbClr val="12355B"/>
            </a:solidFill>
            <a:prstDash val="solid"/>
            <a:headEnd type="none" w="med" len="med"/>
            <a:tailEnd type="triangle" w="sm" len="sm"/>
          </a:ln>
        </p:spPr>
      </p:cxnSp>
      <p:cxnSp>
        <p:nvCxnSpPr>
          <p:cNvPr id="121" name="Connector: Elbow 120"/>
          <p:cNvCxnSpPr>
            <a:stCxn id="29" idx="3"/>
            <a:endCxn id="36" idx="1"/>
          </p:cNvCxnSpPr>
          <p:nvPr/>
        </p:nvCxnSpPr>
        <p:spPr>
          <a:xfrm flipV="1">
            <a:off x="5848350" y="2324100"/>
            <a:ext cx="495300" cy="1333500"/>
          </a:xfrm>
          <a:prstGeom prst="bentConnector3">
            <a:avLst>
              <a:gd name="adj1" fmla="val 50000"/>
            </a:avLst>
          </a:prstGeom>
          <a:ln w="19050">
            <a:solidFill>
              <a:srgbClr val="12355B"/>
            </a:solidFill>
            <a:prstDash val="solid"/>
            <a:headEnd type="none" w="med" len="med"/>
            <a:tailEnd type="triangle" w="sm" len="sm"/>
          </a:ln>
        </p:spPr>
      </p:cxnSp>
      <p:sp>
        <p:nvSpPr>
          <p:cNvPr id="48" name="Rectangle: Rounded Corners 47">
            <a:extLst>
              <a:ext uri="{FF2B5EF4-FFF2-40B4-BE49-F238E27FC236}">
                <a16:creationId xmlns:a16="http://schemas.microsoft.com/office/drawing/2014/main" id="{5F37C5E3-D1F0-4C76-A2FE-1F1C3211E09E}"/>
              </a:ext>
            </a:extLst>
          </p:cNvPr>
          <p:cNvSpPr>
            <a:spLocks noGrp="1"/>
          </p:cNvSpPr>
          <p:nvPr/>
        </p:nvSpPr>
        <p:spPr>
          <a:xfrm>
            <a:off x="9086850" y="1933575"/>
            <a:ext cx="2305050" cy="781050"/>
          </a:xfrm>
          <a:prstGeom prst="roundRect">
            <a:avLst>
              <a:gd name="adj" fmla="val 12195"/>
            </a:avLst>
          </a:prstGeom>
          <a:solidFill>
            <a:srgbClr val="FFFFFF"/>
          </a:solidFill>
          <a:ln w="9525">
            <a:solidFill>
              <a:srgbClr val="B42318"/>
            </a:solidFill>
            <a:prstDash val="solid"/>
          </a:ln>
        </p:spPr>
        <p:txBody>
          <a:bodyPr/>
          <a:lstStyle/>
          <a:p>
            <a:endParaRPr lang="en-CA"/>
          </a:p>
        </p:txBody>
      </p:sp>
      <p:sp>
        <p:nvSpPr>
          <p:cNvPr id="49" name="Rectangle 48">
            <a:extLst>
              <a:ext uri="{FF2B5EF4-FFF2-40B4-BE49-F238E27FC236}">
                <a16:creationId xmlns:a16="http://schemas.microsoft.com/office/drawing/2014/main" id="{AC6577BF-D0C3-4B5B-A7C4-344CEC095291}"/>
              </a:ext>
            </a:extLst>
          </p:cNvPr>
          <p:cNvSpPr>
            <a:spLocks noGrp="1"/>
          </p:cNvSpPr>
          <p:nvPr/>
        </p:nvSpPr>
        <p:spPr>
          <a:xfrm>
            <a:off x="9201150" y="2028825"/>
            <a:ext cx="2076450" cy="238125"/>
          </a:xfrm>
          <a:prstGeom prst="rect">
            <a:avLst/>
          </a:prstGeom>
          <a:noFill/>
          <a:ln w="0">
            <a:noFill/>
          </a:ln>
        </p:spPr>
        <p:txBody>
          <a:bodyPr wrap="square" lIns="0" tIns="0" rIns="0" bIns="0" anchor="ctr">
            <a:normAutofit fontScale="86547"/>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Enter trades in database</a:t>
            </a:r>
          </a:p>
        </p:txBody>
      </p:sp>
      <p:sp>
        <p:nvSpPr>
          <p:cNvPr id="50" name="Rectangle 49">
            <a:extLst>
              <a:ext uri="{FF2B5EF4-FFF2-40B4-BE49-F238E27FC236}">
                <a16:creationId xmlns:a16="http://schemas.microsoft.com/office/drawing/2014/main" id="{C553419A-A061-4BA7-8263-DC0946A3FC0E}"/>
              </a:ext>
            </a:extLst>
          </p:cNvPr>
          <p:cNvSpPr>
            <a:spLocks noGrp="1"/>
          </p:cNvSpPr>
          <p:nvPr/>
        </p:nvSpPr>
        <p:spPr>
          <a:xfrm>
            <a:off x="9201150" y="2266950"/>
            <a:ext cx="207645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Possible during the day, often delayed until trading ends</a:t>
            </a:r>
          </a:p>
        </p:txBody>
      </p:sp>
      <p:sp>
        <p:nvSpPr>
          <p:cNvPr id="51" name="Rectangle: Rounded Corners 50">
            <a:extLst>
              <a:ext uri="{FF2B5EF4-FFF2-40B4-BE49-F238E27FC236}">
                <a16:creationId xmlns:a16="http://schemas.microsoft.com/office/drawing/2014/main" id="{27227963-128E-4395-80EF-A3E19354FAA9}"/>
              </a:ext>
            </a:extLst>
          </p:cNvPr>
          <p:cNvSpPr>
            <a:spLocks noGrp="1"/>
          </p:cNvSpPr>
          <p:nvPr/>
        </p:nvSpPr>
        <p:spPr>
          <a:xfrm>
            <a:off x="9086850" y="3048000"/>
            <a:ext cx="2305050" cy="781050"/>
          </a:xfrm>
          <a:prstGeom prst="roundRect">
            <a:avLst>
              <a:gd name="adj" fmla="val 12195"/>
            </a:avLst>
          </a:prstGeom>
          <a:solidFill>
            <a:srgbClr val="FFFFFF"/>
          </a:solidFill>
          <a:ln w="9525">
            <a:solidFill>
              <a:srgbClr val="B42318"/>
            </a:solidFill>
            <a:prstDash val="solid"/>
          </a:ln>
        </p:spPr>
        <p:txBody>
          <a:bodyPr/>
          <a:lstStyle/>
          <a:p>
            <a:endParaRPr lang="en-CA"/>
          </a:p>
        </p:txBody>
      </p:sp>
      <p:sp>
        <p:nvSpPr>
          <p:cNvPr id="52" name="Rectangle 51">
            <a:extLst>
              <a:ext uri="{FF2B5EF4-FFF2-40B4-BE49-F238E27FC236}">
                <a16:creationId xmlns:a16="http://schemas.microsoft.com/office/drawing/2014/main" id="{38D44F27-FD60-4F40-BB64-2CD44C8C416A}"/>
              </a:ext>
            </a:extLst>
          </p:cNvPr>
          <p:cNvSpPr>
            <a:spLocks noGrp="1"/>
          </p:cNvSpPr>
          <p:nvPr/>
        </p:nvSpPr>
        <p:spPr>
          <a:xfrm>
            <a:off x="9201150" y="3143250"/>
            <a:ext cx="2076450" cy="238125"/>
          </a:xfrm>
          <a:prstGeom prst="rect">
            <a:avLst/>
          </a:prstGeom>
          <a:noFill/>
          <a:ln w="0">
            <a:noFill/>
          </a:ln>
        </p:spPr>
        <p:txBody>
          <a:bodyPr wrap="square" lIns="0" tIns="0" rIns="0" bIns="0" anchor="ctr">
            <a:normAutofit fontScale="85153"/>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Back-office reconciliation</a:t>
            </a:r>
          </a:p>
        </p:txBody>
      </p:sp>
      <p:sp>
        <p:nvSpPr>
          <p:cNvPr id="53" name="Rectangle 52">
            <a:extLst>
              <a:ext uri="{FF2B5EF4-FFF2-40B4-BE49-F238E27FC236}">
                <a16:creationId xmlns:a16="http://schemas.microsoft.com/office/drawing/2014/main" id="{62ABEB3C-DCEF-4405-B16B-DAB436F63E2B}"/>
              </a:ext>
            </a:extLst>
          </p:cNvPr>
          <p:cNvSpPr>
            <a:spLocks noGrp="1"/>
          </p:cNvSpPr>
          <p:nvPr/>
        </p:nvSpPr>
        <p:spPr>
          <a:xfrm>
            <a:off x="9201150" y="3381375"/>
            <a:ext cx="207645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Alerts compare booked trades with submitted tags</a:t>
            </a:r>
          </a:p>
        </p:txBody>
      </p:sp>
      <p:sp>
        <p:nvSpPr>
          <p:cNvPr id="54" name="Rectangle: Rounded Corners 53">
            <a:extLst>
              <a:ext uri="{FF2B5EF4-FFF2-40B4-BE49-F238E27FC236}">
                <a16:creationId xmlns:a16="http://schemas.microsoft.com/office/drawing/2014/main" id="{A4839F90-D607-49AF-9142-C06724DE8381}"/>
              </a:ext>
            </a:extLst>
          </p:cNvPr>
          <p:cNvSpPr>
            <a:spLocks noGrp="1"/>
          </p:cNvSpPr>
          <p:nvPr/>
        </p:nvSpPr>
        <p:spPr>
          <a:xfrm>
            <a:off x="9086850" y="4162425"/>
            <a:ext cx="2305050" cy="781050"/>
          </a:xfrm>
          <a:prstGeom prst="roundRect">
            <a:avLst>
              <a:gd name="adj" fmla="val 12195"/>
            </a:avLst>
          </a:prstGeom>
          <a:solidFill>
            <a:srgbClr val="FFFFFF"/>
          </a:solidFill>
          <a:ln w="9525">
            <a:solidFill>
              <a:srgbClr val="B42318"/>
            </a:solidFill>
            <a:prstDash val="solid"/>
          </a:ln>
        </p:spPr>
        <p:txBody>
          <a:bodyPr/>
          <a:lstStyle/>
          <a:p>
            <a:endParaRPr lang="en-CA"/>
          </a:p>
        </p:txBody>
      </p:sp>
      <p:sp>
        <p:nvSpPr>
          <p:cNvPr id="55" name="Rectangle 54">
            <a:extLst>
              <a:ext uri="{FF2B5EF4-FFF2-40B4-BE49-F238E27FC236}">
                <a16:creationId xmlns:a16="http://schemas.microsoft.com/office/drawing/2014/main" id="{18C10E7F-E05F-43EA-A7E4-B9A5C2685B02}"/>
              </a:ext>
            </a:extLst>
          </p:cNvPr>
          <p:cNvSpPr>
            <a:spLocks noGrp="1"/>
          </p:cNvSpPr>
          <p:nvPr/>
        </p:nvSpPr>
        <p:spPr>
          <a:xfrm>
            <a:off x="9201150" y="4257675"/>
            <a:ext cx="20764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RT handoff email</a:t>
            </a:r>
          </a:p>
        </p:txBody>
      </p:sp>
      <p:sp>
        <p:nvSpPr>
          <p:cNvPr id="56" name="Rectangle 55">
            <a:extLst>
              <a:ext uri="{FF2B5EF4-FFF2-40B4-BE49-F238E27FC236}">
                <a16:creationId xmlns:a16="http://schemas.microsoft.com/office/drawing/2014/main" id="{7850EF9C-BBF4-47DD-BCCC-32FB6C028F28}"/>
              </a:ext>
            </a:extLst>
          </p:cNvPr>
          <p:cNvSpPr>
            <a:spLocks noGrp="1"/>
          </p:cNvSpPr>
          <p:nvPr/>
        </p:nvSpPr>
        <p:spPr>
          <a:xfrm>
            <a:off x="9201150" y="4495800"/>
            <a:ext cx="207645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Open positions and remaining work</a:t>
            </a:r>
          </a:p>
        </p:txBody>
      </p:sp>
      <p:cxnSp>
        <p:nvCxnSpPr>
          <p:cNvPr id="131" name="Connector: Elbow 130"/>
          <p:cNvCxnSpPr>
            <a:stCxn id="42" idx="3"/>
            <a:endCxn id="51" idx="1"/>
          </p:cNvCxnSpPr>
          <p:nvPr/>
        </p:nvCxnSpPr>
        <p:spPr>
          <a:xfrm flipV="1">
            <a:off x="8591550" y="3438525"/>
            <a:ext cx="495300" cy="28575"/>
          </a:xfrm>
          <a:prstGeom prst="bentConnector3">
            <a:avLst>
              <a:gd name="adj1" fmla="val 50000"/>
            </a:avLst>
          </a:prstGeom>
          <a:ln w="19050">
            <a:solidFill>
              <a:srgbClr val="12355B"/>
            </a:solidFill>
            <a:prstDash val="solid"/>
            <a:headEnd type="none" w="med" len="med"/>
            <a:tailEnd type="triangle" w="sm" len="sm"/>
          </a:ln>
        </p:spPr>
      </p:cxnSp>
      <p:cxnSp>
        <p:nvCxnSpPr>
          <p:cNvPr id="132" name="Straight Arrow Connector 131"/>
          <p:cNvCxnSpPr>
            <a:stCxn id="48" idx="2"/>
            <a:endCxn id="51" idx="0"/>
          </p:cNvCxnSpPr>
          <p:nvPr/>
        </p:nvCxnSpPr>
        <p:spPr>
          <a:xfrm>
            <a:off x="10239375" y="2714625"/>
            <a:ext cx="0" cy="333375"/>
          </a:xfrm>
          <a:prstGeom prst="straightConnector1">
            <a:avLst/>
          </a:prstGeom>
          <a:ln w="19050">
            <a:solidFill>
              <a:srgbClr val="12355B"/>
            </a:solidFill>
            <a:prstDash val="solid"/>
            <a:headEnd type="none" w="med" len="med"/>
            <a:tailEnd type="triangle" w="sm" len="sm"/>
          </a:ln>
        </p:spPr>
      </p:cxnSp>
      <p:cxnSp>
        <p:nvCxnSpPr>
          <p:cNvPr id="133" name="Straight Arrow Connector 132"/>
          <p:cNvCxnSpPr>
            <a:stCxn id="51" idx="2"/>
            <a:endCxn id="54" idx="0"/>
          </p:cNvCxnSpPr>
          <p:nvPr/>
        </p:nvCxnSpPr>
        <p:spPr>
          <a:xfrm>
            <a:off x="10239375" y="3829050"/>
            <a:ext cx="0" cy="333375"/>
          </a:xfrm>
          <a:prstGeom prst="straightConnector1">
            <a:avLst/>
          </a:prstGeom>
          <a:ln w="19050">
            <a:solidFill>
              <a:srgbClr val="12355B"/>
            </a:solidFill>
            <a:prstDash val="solid"/>
            <a:headEnd type="none" w="med" len="med"/>
            <a:tailEnd type="triangle" w="sm" len="sm"/>
          </a:ln>
        </p:spPr>
      </p:cxnSp>
      <p:sp>
        <p:nvSpPr>
          <p:cNvPr id="60" name="Oval 59">
            <a:extLst>
              <a:ext uri="{FF2B5EF4-FFF2-40B4-BE49-F238E27FC236}">
                <a16:creationId xmlns:a16="http://schemas.microsoft.com/office/drawing/2014/main" id="{79E71610-82DB-46EA-9285-F8C9516E564B}"/>
              </a:ext>
            </a:extLst>
          </p:cNvPr>
          <p:cNvSpPr>
            <a:spLocks noGrp="1"/>
          </p:cNvSpPr>
          <p:nvPr/>
        </p:nvSpPr>
        <p:spPr>
          <a:xfrm>
            <a:off x="2571750" y="2933700"/>
            <a:ext cx="266700" cy="266700"/>
          </a:xfrm>
          <a:prstGeom prst="ellipse">
            <a:avLst/>
          </a:prstGeom>
          <a:solidFill>
            <a:srgbClr val="B42318"/>
          </a:solidFill>
          <a:ln w="9525">
            <a:solidFill>
              <a:srgbClr val="B42318"/>
            </a:solidFill>
            <a:prstDash val="solid"/>
          </a:ln>
        </p:spPr>
        <p:txBody>
          <a:bodyPr/>
          <a:lstStyle/>
          <a:p>
            <a:endParaRPr lang="en-CA"/>
          </a:p>
        </p:txBody>
      </p:sp>
      <p:sp>
        <p:nvSpPr>
          <p:cNvPr id="61" name="Rectangle 60">
            <a:extLst>
              <a:ext uri="{FF2B5EF4-FFF2-40B4-BE49-F238E27FC236}">
                <a16:creationId xmlns:a16="http://schemas.microsoft.com/office/drawing/2014/main" id="{4BB7CF5A-115A-45CB-AF20-DE6DC2F8EBE2}"/>
              </a:ext>
            </a:extLst>
          </p:cNvPr>
          <p:cNvSpPr>
            <a:spLocks noGrp="1"/>
          </p:cNvSpPr>
          <p:nvPr/>
        </p:nvSpPr>
        <p:spPr>
          <a:xfrm>
            <a:off x="2571750" y="294322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1</a:t>
            </a:r>
          </a:p>
        </p:txBody>
      </p:sp>
      <p:sp>
        <p:nvSpPr>
          <p:cNvPr id="62" name="Oval 61">
            <a:extLst>
              <a:ext uri="{FF2B5EF4-FFF2-40B4-BE49-F238E27FC236}">
                <a16:creationId xmlns:a16="http://schemas.microsoft.com/office/drawing/2014/main" id="{93B7F94F-59D4-40E3-B91B-AE41061E52CF}"/>
              </a:ext>
            </a:extLst>
          </p:cNvPr>
          <p:cNvSpPr>
            <a:spLocks noGrp="1"/>
          </p:cNvSpPr>
          <p:nvPr/>
        </p:nvSpPr>
        <p:spPr>
          <a:xfrm>
            <a:off x="5695950" y="1819275"/>
            <a:ext cx="266700" cy="266700"/>
          </a:xfrm>
          <a:prstGeom prst="ellipse">
            <a:avLst/>
          </a:prstGeom>
          <a:solidFill>
            <a:srgbClr val="B42318"/>
          </a:solidFill>
          <a:ln w="9525">
            <a:solidFill>
              <a:srgbClr val="B42318"/>
            </a:solidFill>
            <a:prstDash val="solid"/>
          </a:ln>
        </p:spPr>
        <p:txBody>
          <a:bodyPr/>
          <a:lstStyle/>
          <a:p>
            <a:endParaRPr lang="en-CA"/>
          </a:p>
        </p:txBody>
      </p:sp>
      <p:sp>
        <p:nvSpPr>
          <p:cNvPr id="63" name="Rectangle 62">
            <a:extLst>
              <a:ext uri="{FF2B5EF4-FFF2-40B4-BE49-F238E27FC236}">
                <a16:creationId xmlns:a16="http://schemas.microsoft.com/office/drawing/2014/main" id="{E7FC89D7-9333-4E05-A6CF-4EE94D121505}"/>
              </a:ext>
            </a:extLst>
          </p:cNvPr>
          <p:cNvSpPr>
            <a:spLocks noGrp="1"/>
          </p:cNvSpPr>
          <p:nvPr/>
        </p:nvSpPr>
        <p:spPr>
          <a:xfrm>
            <a:off x="5695950" y="182880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2</a:t>
            </a:r>
          </a:p>
        </p:txBody>
      </p:sp>
      <p:sp>
        <p:nvSpPr>
          <p:cNvPr id="64" name="Oval 63">
            <a:extLst>
              <a:ext uri="{FF2B5EF4-FFF2-40B4-BE49-F238E27FC236}">
                <a16:creationId xmlns:a16="http://schemas.microsoft.com/office/drawing/2014/main" id="{37633CE3-9A80-4DBA-BAA6-179872DF3A90}"/>
              </a:ext>
            </a:extLst>
          </p:cNvPr>
          <p:cNvSpPr>
            <a:spLocks noGrp="1"/>
          </p:cNvSpPr>
          <p:nvPr/>
        </p:nvSpPr>
        <p:spPr>
          <a:xfrm>
            <a:off x="8496300" y="1819275"/>
            <a:ext cx="266700" cy="266700"/>
          </a:xfrm>
          <a:prstGeom prst="ellipse">
            <a:avLst/>
          </a:prstGeom>
          <a:solidFill>
            <a:srgbClr val="B42318"/>
          </a:solidFill>
          <a:ln w="9525">
            <a:solidFill>
              <a:srgbClr val="B42318"/>
            </a:solidFill>
            <a:prstDash val="solid"/>
          </a:ln>
        </p:spPr>
        <p:txBody>
          <a:bodyPr/>
          <a:lstStyle/>
          <a:p>
            <a:endParaRPr lang="en-CA"/>
          </a:p>
        </p:txBody>
      </p:sp>
      <p:sp>
        <p:nvSpPr>
          <p:cNvPr id="65" name="Rectangle 64">
            <a:extLst>
              <a:ext uri="{FF2B5EF4-FFF2-40B4-BE49-F238E27FC236}">
                <a16:creationId xmlns:a16="http://schemas.microsoft.com/office/drawing/2014/main" id="{E4AC5245-4F54-4D3C-B398-9E4DC65CAB9D}"/>
              </a:ext>
            </a:extLst>
          </p:cNvPr>
          <p:cNvSpPr>
            <a:spLocks noGrp="1"/>
          </p:cNvSpPr>
          <p:nvPr/>
        </p:nvSpPr>
        <p:spPr>
          <a:xfrm>
            <a:off x="8496300" y="182880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3</a:t>
            </a:r>
          </a:p>
        </p:txBody>
      </p:sp>
      <p:sp>
        <p:nvSpPr>
          <p:cNvPr id="66" name="Oval 65">
            <a:extLst>
              <a:ext uri="{FF2B5EF4-FFF2-40B4-BE49-F238E27FC236}">
                <a16:creationId xmlns:a16="http://schemas.microsoft.com/office/drawing/2014/main" id="{0AA67585-EEAC-4282-886E-C742956F9039}"/>
              </a:ext>
            </a:extLst>
          </p:cNvPr>
          <p:cNvSpPr>
            <a:spLocks noGrp="1"/>
          </p:cNvSpPr>
          <p:nvPr/>
        </p:nvSpPr>
        <p:spPr>
          <a:xfrm>
            <a:off x="11258550" y="1819275"/>
            <a:ext cx="266700" cy="266700"/>
          </a:xfrm>
          <a:prstGeom prst="ellipse">
            <a:avLst/>
          </a:prstGeom>
          <a:solidFill>
            <a:srgbClr val="B42318"/>
          </a:solidFill>
          <a:ln w="9525">
            <a:solidFill>
              <a:srgbClr val="B42318"/>
            </a:solidFill>
            <a:prstDash val="solid"/>
          </a:ln>
        </p:spPr>
        <p:txBody>
          <a:bodyPr/>
          <a:lstStyle/>
          <a:p>
            <a:endParaRPr lang="en-CA"/>
          </a:p>
        </p:txBody>
      </p:sp>
      <p:sp>
        <p:nvSpPr>
          <p:cNvPr id="67" name="Rectangle 66">
            <a:extLst>
              <a:ext uri="{FF2B5EF4-FFF2-40B4-BE49-F238E27FC236}">
                <a16:creationId xmlns:a16="http://schemas.microsoft.com/office/drawing/2014/main" id="{B363F5C9-5A18-44F5-8906-3A6D24DF17B9}"/>
              </a:ext>
            </a:extLst>
          </p:cNvPr>
          <p:cNvSpPr>
            <a:spLocks noGrp="1"/>
          </p:cNvSpPr>
          <p:nvPr/>
        </p:nvSpPr>
        <p:spPr>
          <a:xfrm>
            <a:off x="11258550" y="182880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4</a:t>
            </a:r>
          </a:p>
        </p:txBody>
      </p:sp>
      <p:sp>
        <p:nvSpPr>
          <p:cNvPr id="68" name="Rectangle 67">
            <a:extLst>
              <a:ext uri="{FF2B5EF4-FFF2-40B4-BE49-F238E27FC236}">
                <a16:creationId xmlns:a16="http://schemas.microsoft.com/office/drawing/2014/main" id="{2EFD46ED-9083-4D49-8F36-DB995D9C4965}"/>
              </a:ext>
            </a:extLst>
          </p:cNvPr>
          <p:cNvSpPr>
            <a:spLocks noGrp="1"/>
          </p:cNvSpPr>
          <p:nvPr/>
        </p:nvSpPr>
        <p:spPr>
          <a:xfrm>
            <a:off x="742950" y="5791200"/>
            <a:ext cx="2571750" cy="228600"/>
          </a:xfrm>
          <a:prstGeom prst="rect">
            <a:avLst/>
          </a:prstGeom>
          <a:noFill/>
          <a:ln w="0">
            <a:noFill/>
          </a:ln>
        </p:spPr>
        <p:txBody>
          <a:bodyPr wrap="square" lIns="0" tIns="0" rIns="0" bIns="0" anchor="t">
            <a:normAutofit/>
          </a:bodyPr>
          <a:lstStyle/>
          <a:p>
            <a:pPr algn="l">
              <a:defRPr sz="1125" b="0">
                <a:solidFill>
                  <a:srgbClr val="5F7182"/>
                </a:solidFill>
                <a:latin typeface="DejaVu Sans"/>
                <a:ea typeface="DejaVu Sans"/>
                <a:cs typeface="DejaVu Sans"/>
              </a:defRPr>
            </a:pPr>
            <a:r>
              <a:rPr sz="1125" b="0">
                <a:solidFill>
                  <a:srgbClr val="5F7182"/>
                </a:solidFill>
                <a:latin typeface="DejaVu Sans"/>
                <a:ea typeface="DejaVu Sans"/>
                <a:cs typeface="DejaVu Sans"/>
              </a:rPr>
              <a:t>1  Unstructured strategy context</a:t>
            </a:r>
          </a:p>
        </p:txBody>
      </p:sp>
      <p:sp>
        <p:nvSpPr>
          <p:cNvPr id="69" name="Rectangle 68">
            <a:extLst>
              <a:ext uri="{FF2B5EF4-FFF2-40B4-BE49-F238E27FC236}">
                <a16:creationId xmlns:a16="http://schemas.microsoft.com/office/drawing/2014/main" id="{DAA5D094-A893-49E7-909A-2F216B0EDC36}"/>
              </a:ext>
            </a:extLst>
          </p:cNvPr>
          <p:cNvSpPr>
            <a:spLocks noGrp="1"/>
          </p:cNvSpPr>
          <p:nvPr/>
        </p:nvSpPr>
        <p:spPr>
          <a:xfrm>
            <a:off x="3448050" y="5791200"/>
            <a:ext cx="2857500" cy="228600"/>
          </a:xfrm>
          <a:prstGeom prst="rect">
            <a:avLst/>
          </a:prstGeom>
          <a:noFill/>
          <a:ln w="0">
            <a:noFill/>
          </a:ln>
        </p:spPr>
        <p:txBody>
          <a:bodyPr wrap="square" lIns="0" tIns="0" rIns="0" bIns="0" anchor="t">
            <a:normAutofit fontScale="92083"/>
          </a:bodyPr>
          <a:lstStyle/>
          <a:p>
            <a:pPr algn="l">
              <a:defRPr sz="1125" b="0">
                <a:solidFill>
                  <a:srgbClr val="5F7182"/>
                </a:solidFill>
                <a:latin typeface="DejaVu Sans"/>
                <a:ea typeface="DejaVu Sans"/>
                <a:cs typeface="DejaVu Sans"/>
              </a:defRPr>
            </a:pPr>
            <a:r>
              <a:rPr sz="1125" b="0">
                <a:solidFill>
                  <a:srgbClr val="5F7182"/>
                </a:solidFill>
                <a:latin typeface="DejaVu Sans"/>
                <a:ea typeface="DejaVu Sans"/>
                <a:cs typeface="DejaVu Sans"/>
              </a:rPr>
              <a:t>2  Temporary records and mental matching</a:t>
            </a:r>
          </a:p>
        </p:txBody>
      </p:sp>
      <p:sp>
        <p:nvSpPr>
          <p:cNvPr id="70" name="Rectangle 69">
            <a:extLst>
              <a:ext uri="{FF2B5EF4-FFF2-40B4-BE49-F238E27FC236}">
                <a16:creationId xmlns:a16="http://schemas.microsoft.com/office/drawing/2014/main" id="{58E2E70C-8FC1-4D60-A04D-23EAB848E06F}"/>
              </a:ext>
            </a:extLst>
          </p:cNvPr>
          <p:cNvSpPr>
            <a:spLocks noGrp="1"/>
          </p:cNvSpPr>
          <p:nvPr/>
        </p:nvSpPr>
        <p:spPr>
          <a:xfrm>
            <a:off x="6438900" y="5791200"/>
            <a:ext cx="3048000" cy="228600"/>
          </a:xfrm>
          <a:prstGeom prst="rect">
            <a:avLst/>
          </a:prstGeom>
          <a:noFill/>
          <a:ln w="0">
            <a:noFill/>
          </a:ln>
        </p:spPr>
        <p:txBody>
          <a:bodyPr wrap="square" lIns="0" tIns="0" rIns="0" bIns="0" anchor="t">
            <a:normAutofit fontScale="93230"/>
          </a:bodyPr>
          <a:lstStyle/>
          <a:p>
            <a:pPr algn="l">
              <a:defRPr sz="1125" b="0">
                <a:solidFill>
                  <a:srgbClr val="5F7182"/>
                </a:solidFill>
                <a:latin typeface="DejaVu Sans"/>
                <a:ea typeface="DejaVu Sans"/>
                <a:cs typeface="DejaVu Sans"/>
              </a:defRPr>
            </a:pPr>
            <a:r>
              <a:rPr sz="1125" b="0">
                <a:solidFill>
                  <a:srgbClr val="5F7182"/>
                </a:solidFill>
                <a:latin typeface="DejaVu Sans"/>
                <a:ea typeface="DejaVu Sans"/>
                <a:cs typeface="DejaVu Sans"/>
              </a:rPr>
              <a:t>3  Scheduling consumes the bulk of the effort</a:t>
            </a:r>
          </a:p>
        </p:txBody>
      </p:sp>
      <p:sp>
        <p:nvSpPr>
          <p:cNvPr id="71" name="Rectangle 70">
            <a:extLst>
              <a:ext uri="{FF2B5EF4-FFF2-40B4-BE49-F238E27FC236}">
                <a16:creationId xmlns:a16="http://schemas.microsoft.com/office/drawing/2014/main" id="{C87CB656-52B3-4DCE-B00D-EA8C602EBAE7}"/>
              </a:ext>
            </a:extLst>
          </p:cNvPr>
          <p:cNvSpPr>
            <a:spLocks noGrp="1"/>
          </p:cNvSpPr>
          <p:nvPr/>
        </p:nvSpPr>
        <p:spPr>
          <a:xfrm>
            <a:off x="9105900" y="5791200"/>
            <a:ext cx="2571750" cy="400050"/>
          </a:xfrm>
          <a:prstGeom prst="rect">
            <a:avLst/>
          </a:prstGeom>
          <a:noFill/>
          <a:ln w="0">
            <a:noFill/>
          </a:ln>
        </p:spPr>
        <p:txBody>
          <a:bodyPr wrap="square" lIns="0" tIns="0" rIns="0" bIns="0" anchor="t">
            <a:normAutofit/>
          </a:bodyPr>
          <a:lstStyle/>
          <a:p>
            <a:pPr algn="l">
              <a:defRPr sz="1125" b="0">
                <a:solidFill>
                  <a:srgbClr val="5F7182"/>
                </a:solidFill>
                <a:latin typeface="DejaVu Sans"/>
                <a:ea typeface="DejaVu Sans"/>
                <a:cs typeface="DejaVu Sans"/>
              </a:defRPr>
            </a:pPr>
            <a:r>
              <a:rPr sz="1125" b="0">
                <a:solidFill>
                  <a:srgbClr val="5F7182"/>
                </a:solidFill>
                <a:latin typeface="DejaVu Sans"/>
                <a:ea typeface="DejaVu Sans"/>
                <a:cs typeface="DejaVu Sans"/>
              </a:rPr>
              <a:t>4  Validation happens after work is completed</a:t>
            </a:r>
          </a:p>
        </p:txBody>
      </p:sp>
      <p:sp>
        <p:nvSpPr>
          <p:cNvPr id="72" name="Rectangle 71">
            <a:extLst>
              <a:ext uri="{FF2B5EF4-FFF2-40B4-BE49-F238E27FC236}">
                <a16:creationId xmlns:a16="http://schemas.microsoft.com/office/drawing/2014/main" id="{310E77F2-5221-46C8-8CA0-545E17D433A6}"/>
              </a:ext>
            </a:extLst>
          </p:cNvPr>
          <p:cNvSpPr>
            <a:spLocks noGrp="1"/>
          </p:cNvSpPr>
          <p:nvPr/>
        </p:nvSpPr>
        <p:spPr>
          <a:xfrm>
            <a:off x="609600" y="6324600"/>
            <a:ext cx="952500" cy="228600"/>
          </a:xfrm>
          <a:prstGeom prst="rect">
            <a:avLst/>
          </a:prstGeom>
          <a:noFill/>
          <a:ln w="0">
            <a:noFill/>
          </a:ln>
        </p:spPr>
        <p:txBody>
          <a:bodyPr wrap="square" lIns="0" tIns="0" rIns="0" bIns="0" anchor="t">
            <a:normAutofit/>
          </a:bodyPr>
          <a:lstStyle/>
          <a:p>
            <a:pPr algn="l">
              <a:defRPr sz="1275" b="1">
                <a:solidFill>
                  <a:srgbClr val="B42318"/>
                </a:solidFill>
                <a:latin typeface="DejaVu Sans"/>
                <a:ea typeface="DejaVu Sans"/>
                <a:cs typeface="DejaVu Sans"/>
              </a:defRPr>
            </a:pPr>
            <a:r>
              <a:rPr sz="1275" b="1">
                <a:solidFill>
                  <a:srgbClr val="B42318"/>
                </a:solidFill>
                <a:latin typeface="DejaVu Sans"/>
                <a:ea typeface="DejaVu Sans"/>
                <a:cs typeface="DejaVu Sans"/>
              </a:rPr>
              <a:t>Core issue</a:t>
            </a:r>
          </a:p>
        </p:txBody>
      </p:sp>
      <p:sp>
        <p:nvSpPr>
          <p:cNvPr id="73" name="Rectangle 72">
            <a:extLst>
              <a:ext uri="{FF2B5EF4-FFF2-40B4-BE49-F238E27FC236}">
                <a16:creationId xmlns:a16="http://schemas.microsoft.com/office/drawing/2014/main" id="{D0761A91-AC84-41C1-A129-DE9CDF08F3D1}"/>
              </a:ext>
            </a:extLst>
          </p:cNvPr>
          <p:cNvSpPr>
            <a:spLocks noGrp="1"/>
          </p:cNvSpPr>
          <p:nvPr/>
        </p:nvSpPr>
        <p:spPr>
          <a:xfrm>
            <a:off x="1600200" y="6305550"/>
            <a:ext cx="8763000" cy="266700"/>
          </a:xfrm>
          <a:prstGeom prst="rect">
            <a:avLst/>
          </a:prstGeom>
          <a:noFill/>
          <a:ln w="0">
            <a:noFill/>
          </a:ln>
        </p:spPr>
        <p:txBody>
          <a:bodyPr wrap="square" lIns="0" tIns="0" rIns="0" bIns="0" anchor="t">
            <a:normAutofit/>
          </a:bodyPr>
          <a:lstStyle/>
          <a:p>
            <a:pPr algn="l">
              <a:defRPr sz="1500" b="1">
                <a:solidFill>
                  <a:srgbClr val="15283B"/>
                </a:solidFill>
                <a:latin typeface="DejaVu Sans"/>
                <a:ea typeface="DejaVu Sans"/>
                <a:cs typeface="DejaVu Sans"/>
              </a:defRPr>
            </a:pPr>
            <a:r>
              <a:rPr sz="1500" b="1">
                <a:solidFill>
                  <a:srgbClr val="15283B"/>
                </a:solidFill>
                <a:latin typeface="DejaVu Sans"/>
                <a:ea typeface="DejaVu Sans"/>
                <a:cs typeface="DejaVu Sans"/>
              </a:rPr>
              <a:t>Trades, schedules, transmission and tags do not share one live operating record.</a:t>
            </a:r>
          </a:p>
        </p:txBody>
      </p:sp>
      <p:sp>
        <p:nvSpPr>
          <p:cNvPr id="74" name="Rectangle 73">
            <a:extLst>
              <a:ext uri="{FF2B5EF4-FFF2-40B4-BE49-F238E27FC236}">
                <a16:creationId xmlns:a16="http://schemas.microsoft.com/office/drawing/2014/main" id="{FD7637C9-C9AA-431A-B6E0-C7DA5DD2A44B}"/>
              </a:ext>
            </a:extLst>
          </p:cNvPr>
          <p:cNvSpPr>
            <a:spLocks noGrp="1"/>
          </p:cNvSpPr>
          <p:nvPr/>
        </p:nvSpPr>
        <p:spPr>
          <a:xfrm>
            <a:off x="11106150" y="6534150"/>
            <a:ext cx="476250" cy="171450"/>
          </a:xfrm>
          <a:prstGeom prst="rect">
            <a:avLst/>
          </a:prstGeom>
          <a:noFill/>
          <a:ln w="0">
            <a:noFill/>
          </a:ln>
        </p:spPr>
        <p:txBody>
          <a:bodyPr wrap="square" lIns="0" tIns="0" rIns="0" bIns="0" anchor="t">
            <a:normAutofit/>
          </a:bodyPr>
          <a:lstStyle/>
          <a:p>
            <a:pPr algn="r">
              <a:defRPr sz="975" b="0">
                <a:solidFill>
                  <a:srgbClr val="5F7182"/>
                </a:solidFill>
                <a:latin typeface="DejaVu Sans"/>
                <a:ea typeface="DejaVu Sans"/>
                <a:cs typeface="DejaVu Sans"/>
              </a:defRPr>
            </a:pPr>
            <a:r>
              <a:rPr sz="975" b="0">
                <a:solidFill>
                  <a:srgbClr val="5F7182"/>
                </a:solidFill>
                <a:latin typeface="DejaVu Sans"/>
                <a:ea typeface="DejaVu Sans"/>
                <a:cs typeface="DejaVu Sans"/>
              </a:rPr>
              <a:t>02</a:t>
            </a:r>
          </a:p>
        </p:txBody>
      </p:sp>
    </p:spTree>
    <p:extLst>
      <p:ext uri="{BB962C8B-B14F-4D97-AF65-F5344CB8AC3E}">
        <p14:creationId xmlns:p14="http://schemas.microsoft.com/office/powerpoint/2010/main" val="1871685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228537C8-D3FA-4000-9859-CFE27B85227B}"/>
              </a:ext>
            </a:extLst>
          </p:cNvPr>
          <p:cNvSpPr>
            <a:spLocks noGrp="1"/>
          </p:cNvSpPr>
          <p:nvPr/>
        </p:nvSpPr>
        <p:spPr>
          <a:xfrm>
            <a:off x="609600" y="323850"/>
            <a:ext cx="10972800" cy="495300"/>
          </a:xfrm>
          <a:prstGeom prst="rect">
            <a:avLst/>
          </a:prstGeom>
          <a:noFill/>
          <a:ln w="0">
            <a:noFill/>
          </a:ln>
        </p:spPr>
        <p:txBody>
          <a:bodyPr wrap="square" lIns="0" tIns="0" rIns="0" bIns="0" anchor="ctr">
            <a:normAutofit/>
          </a:bodyPr>
          <a:lstStyle/>
          <a:p>
            <a:pPr algn="l">
              <a:defRPr sz="3000" b="1">
                <a:solidFill>
                  <a:srgbClr val="12355B"/>
                </a:solidFill>
                <a:latin typeface="DejaVu Sans"/>
                <a:ea typeface="DejaVu Sans"/>
                <a:cs typeface="DejaVu Sans"/>
              </a:defRPr>
            </a:pPr>
            <a:r>
              <a:rPr sz="3000" b="1">
                <a:solidFill>
                  <a:srgbClr val="12355B"/>
                </a:solidFill>
                <a:latin typeface="DejaVu Sans"/>
                <a:ea typeface="DejaVu Sans"/>
                <a:cs typeface="DejaVu Sans"/>
              </a:rPr>
              <a:t>Target information framework</a:t>
            </a:r>
          </a:p>
        </p:txBody>
      </p:sp>
      <p:sp>
        <p:nvSpPr>
          <p:cNvPr id="2" name="Rectangle 1">
            <a:extLst>
              <a:ext uri="{FF2B5EF4-FFF2-40B4-BE49-F238E27FC236}">
                <a16:creationId xmlns:a16="http://schemas.microsoft.com/office/drawing/2014/main" id="{25089F8F-7358-4DD6-9E10-A094447B7F5F}"/>
              </a:ext>
            </a:extLst>
          </p:cNvPr>
          <p:cNvSpPr>
            <a:spLocks noGrp="1"/>
          </p:cNvSpPr>
          <p:nvPr/>
        </p:nvSpPr>
        <p:spPr>
          <a:xfrm>
            <a:off x="628650" y="819150"/>
            <a:ext cx="10934700" cy="28575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Every operational object derives from the trade record and remains linked to its source</a:t>
            </a:r>
          </a:p>
        </p:txBody>
      </p:sp>
      <p:sp>
        <p:nvSpPr>
          <p:cNvPr id="3" name="Straight Connector 2">
            <a:extLst>
              <a:ext uri="{FF2B5EF4-FFF2-40B4-BE49-F238E27FC236}">
                <a16:creationId xmlns:a16="http://schemas.microsoft.com/office/drawing/2014/main" id="{86A84199-F696-4362-8FC7-55318F5F5A5D}"/>
              </a:ext>
            </a:extLst>
          </p:cNvPr>
          <p:cNvSpPr>
            <a:spLocks noGrp="1"/>
          </p:cNvSpPr>
          <p:nvPr/>
        </p:nvSpPr>
        <p:spPr>
          <a:xfrm>
            <a:off x="609600" y="1162050"/>
            <a:ext cx="10972800" cy="0"/>
          </a:xfrm>
          <a:prstGeom prst="line">
            <a:avLst/>
          </a:prstGeom>
          <a:noFill/>
          <a:ln w="9525">
            <a:solidFill>
              <a:srgbClr val="E3E9EF"/>
            </a:solidFill>
            <a:prstDash val="solid"/>
          </a:ln>
        </p:spPr>
        <p:txBody>
          <a:bodyPr/>
          <a:lstStyle/>
          <a:p>
            <a:endParaRPr lang="en-CA"/>
          </a:p>
        </p:txBody>
      </p:sp>
      <p:sp>
        <p:nvSpPr>
          <p:cNvPr id="4" name="Rectangle 3">
            <a:extLst>
              <a:ext uri="{FF2B5EF4-FFF2-40B4-BE49-F238E27FC236}">
                <a16:creationId xmlns:a16="http://schemas.microsoft.com/office/drawing/2014/main" id="{40AA093F-7059-48D4-9093-B05139CF463F}"/>
              </a:ext>
            </a:extLst>
          </p:cNvPr>
          <p:cNvSpPr>
            <a:spLocks noGrp="1"/>
          </p:cNvSpPr>
          <p:nvPr/>
        </p:nvSpPr>
        <p:spPr>
          <a:xfrm>
            <a:off x="685800" y="1428750"/>
            <a:ext cx="2381250" cy="247650"/>
          </a:xfrm>
          <a:prstGeom prst="rect">
            <a:avLst/>
          </a:prstGeom>
          <a:noFill/>
          <a:ln w="0">
            <a:noFill/>
          </a:ln>
        </p:spPr>
        <p:txBody>
          <a:bodyPr wrap="square" lIns="0" tIns="0" rIns="0" bIns="0" anchor="t">
            <a:normAutofit/>
          </a:bodyPr>
          <a:lstStyle/>
          <a:p>
            <a:pPr algn="l">
              <a:defRPr sz="1200" b="1">
                <a:solidFill>
                  <a:srgbClr val="5F7182"/>
                </a:solidFill>
                <a:latin typeface="DejaVu Sans"/>
                <a:ea typeface="DejaVu Sans"/>
                <a:cs typeface="DejaVu Sans"/>
              </a:defRPr>
            </a:pPr>
            <a:r>
              <a:rPr sz="1200" b="1">
                <a:solidFill>
                  <a:srgbClr val="5F7182"/>
                </a:solidFill>
                <a:latin typeface="DejaVu Sans"/>
                <a:ea typeface="DejaVu Sans"/>
                <a:cs typeface="DejaVu Sans"/>
              </a:rPr>
              <a:t>TRADE SOURCES</a:t>
            </a:r>
          </a:p>
        </p:txBody>
      </p:sp>
      <p:sp>
        <p:nvSpPr>
          <p:cNvPr id="5" name="Rectangle 4">
            <a:extLst>
              <a:ext uri="{FF2B5EF4-FFF2-40B4-BE49-F238E27FC236}">
                <a16:creationId xmlns:a16="http://schemas.microsoft.com/office/drawing/2014/main" id="{6D306F8C-43FB-48E3-8070-A5DFB8CD867A}"/>
              </a:ext>
            </a:extLst>
          </p:cNvPr>
          <p:cNvSpPr>
            <a:spLocks noGrp="1"/>
          </p:cNvSpPr>
          <p:nvPr/>
        </p:nvSpPr>
        <p:spPr>
          <a:xfrm>
            <a:off x="4076700" y="1428750"/>
            <a:ext cx="4000500" cy="247650"/>
          </a:xfrm>
          <a:prstGeom prst="rect">
            <a:avLst/>
          </a:prstGeom>
          <a:noFill/>
          <a:ln w="0">
            <a:noFill/>
          </a:ln>
        </p:spPr>
        <p:txBody>
          <a:bodyPr wrap="square" lIns="0" tIns="0" rIns="0" bIns="0" anchor="t">
            <a:normAutofit/>
          </a:bodyPr>
          <a:lstStyle/>
          <a:p>
            <a:pPr algn="ctr">
              <a:defRPr sz="1200" b="1">
                <a:solidFill>
                  <a:srgbClr val="5F7182"/>
                </a:solidFill>
                <a:latin typeface="DejaVu Sans"/>
                <a:ea typeface="DejaVu Sans"/>
                <a:cs typeface="DejaVu Sans"/>
              </a:defRPr>
            </a:pPr>
            <a:r>
              <a:rPr sz="1200" b="1">
                <a:solidFill>
                  <a:srgbClr val="5F7182"/>
                </a:solidFill>
                <a:latin typeface="DejaVu Sans"/>
                <a:ea typeface="DejaVu Sans"/>
                <a:cs typeface="DejaVu Sans"/>
              </a:rPr>
              <a:t>SHARED OPERATING WORKSPACE</a:t>
            </a:r>
          </a:p>
        </p:txBody>
      </p:sp>
      <p:sp>
        <p:nvSpPr>
          <p:cNvPr id="6" name="Rectangle 5">
            <a:extLst>
              <a:ext uri="{FF2B5EF4-FFF2-40B4-BE49-F238E27FC236}">
                <a16:creationId xmlns:a16="http://schemas.microsoft.com/office/drawing/2014/main" id="{DAE44A91-30A8-45A6-9503-39991C435370}"/>
              </a:ext>
            </a:extLst>
          </p:cNvPr>
          <p:cNvSpPr>
            <a:spLocks noGrp="1"/>
          </p:cNvSpPr>
          <p:nvPr/>
        </p:nvSpPr>
        <p:spPr>
          <a:xfrm>
            <a:off x="8858250" y="1428750"/>
            <a:ext cx="2667000" cy="247650"/>
          </a:xfrm>
          <a:prstGeom prst="rect">
            <a:avLst/>
          </a:prstGeom>
          <a:noFill/>
          <a:ln w="0">
            <a:noFill/>
          </a:ln>
        </p:spPr>
        <p:txBody>
          <a:bodyPr wrap="square" lIns="0" tIns="0" rIns="0" bIns="0" anchor="t">
            <a:normAutofit/>
          </a:bodyPr>
          <a:lstStyle/>
          <a:p>
            <a:pPr algn="ctr">
              <a:defRPr sz="1200" b="1">
                <a:solidFill>
                  <a:srgbClr val="5F7182"/>
                </a:solidFill>
                <a:latin typeface="DejaVu Sans"/>
                <a:ea typeface="DejaVu Sans"/>
                <a:cs typeface="DejaVu Sans"/>
              </a:defRPr>
            </a:pPr>
            <a:r>
              <a:rPr sz="1200" b="1">
                <a:solidFill>
                  <a:srgbClr val="5F7182"/>
                </a:solidFill>
                <a:latin typeface="DejaVu Sans"/>
                <a:ea typeface="DejaVu Sans"/>
                <a:cs typeface="DejaVu Sans"/>
              </a:rPr>
              <a:t>DOWNSTREAM ACTIONS</a:t>
            </a:r>
          </a:p>
        </p:txBody>
      </p:sp>
      <p:sp>
        <p:nvSpPr>
          <p:cNvPr id="7" name="Rectangle: Rounded Corners 6">
            <a:extLst>
              <a:ext uri="{FF2B5EF4-FFF2-40B4-BE49-F238E27FC236}">
                <a16:creationId xmlns:a16="http://schemas.microsoft.com/office/drawing/2014/main" id="{90EC56A8-88B5-40E5-B885-3B866B2D3FDA}"/>
              </a:ext>
            </a:extLst>
          </p:cNvPr>
          <p:cNvSpPr>
            <a:spLocks noGrp="1"/>
          </p:cNvSpPr>
          <p:nvPr/>
        </p:nvSpPr>
        <p:spPr>
          <a:xfrm>
            <a:off x="685800" y="1924050"/>
            <a:ext cx="2343150" cy="723900"/>
          </a:xfrm>
          <a:prstGeom prst="roundRect">
            <a:avLst>
              <a:gd name="adj" fmla="val 13158"/>
            </a:avLst>
          </a:prstGeom>
          <a:solidFill>
            <a:srgbClr val="E7F0FA"/>
          </a:solidFill>
          <a:ln w="9525">
            <a:solidFill>
              <a:srgbClr val="2B6CB0"/>
            </a:solidFill>
            <a:prstDash val="solid"/>
          </a:ln>
        </p:spPr>
        <p:txBody>
          <a:bodyPr/>
          <a:lstStyle/>
          <a:p>
            <a:endParaRPr lang="en-CA"/>
          </a:p>
        </p:txBody>
      </p:sp>
      <p:sp>
        <p:nvSpPr>
          <p:cNvPr id="8" name="Rectangle 7">
            <a:extLst>
              <a:ext uri="{FF2B5EF4-FFF2-40B4-BE49-F238E27FC236}">
                <a16:creationId xmlns:a16="http://schemas.microsoft.com/office/drawing/2014/main" id="{63C1FCE6-159C-47C2-B7FF-6E3C55A7370B}"/>
              </a:ext>
            </a:extLst>
          </p:cNvPr>
          <p:cNvSpPr>
            <a:spLocks noGrp="1"/>
          </p:cNvSpPr>
          <p:nvPr/>
        </p:nvSpPr>
        <p:spPr>
          <a:xfrm>
            <a:off x="800100" y="2019300"/>
            <a:ext cx="21145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Term positions</a:t>
            </a:r>
          </a:p>
        </p:txBody>
      </p:sp>
      <p:sp>
        <p:nvSpPr>
          <p:cNvPr id="9" name="Rectangle 8">
            <a:extLst>
              <a:ext uri="{FF2B5EF4-FFF2-40B4-BE49-F238E27FC236}">
                <a16:creationId xmlns:a16="http://schemas.microsoft.com/office/drawing/2014/main" id="{0C7E6266-5F73-41B6-843D-8BFB40296D67}"/>
              </a:ext>
            </a:extLst>
          </p:cNvPr>
          <p:cNvSpPr>
            <a:spLocks noGrp="1"/>
          </p:cNvSpPr>
          <p:nvPr/>
        </p:nvSpPr>
        <p:spPr>
          <a:xfrm>
            <a:off x="800100" y="2257425"/>
            <a:ext cx="2114550" cy="314325"/>
          </a:xfrm>
          <a:prstGeom prst="rect">
            <a:avLst/>
          </a:prstGeom>
          <a:noFill/>
          <a:ln w="0">
            <a:noFill/>
          </a:ln>
        </p:spPr>
        <p:txBody>
          <a:bodyPr wrap="square" lIns="0" tIns="0" rIns="0" bIns="0" anchor="t">
            <a:normAutofit fontScale="94784"/>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Existing long-term trades and prior deals</a:t>
            </a:r>
          </a:p>
        </p:txBody>
      </p:sp>
      <p:sp>
        <p:nvSpPr>
          <p:cNvPr id="10" name="Rectangle: Rounded Corners 9">
            <a:extLst>
              <a:ext uri="{FF2B5EF4-FFF2-40B4-BE49-F238E27FC236}">
                <a16:creationId xmlns:a16="http://schemas.microsoft.com/office/drawing/2014/main" id="{27AA1A6C-2D99-436E-B114-F08106D090F4}"/>
              </a:ext>
            </a:extLst>
          </p:cNvPr>
          <p:cNvSpPr>
            <a:spLocks noGrp="1"/>
          </p:cNvSpPr>
          <p:nvPr/>
        </p:nvSpPr>
        <p:spPr>
          <a:xfrm>
            <a:off x="685800" y="2971800"/>
            <a:ext cx="2343150" cy="723900"/>
          </a:xfrm>
          <a:prstGeom prst="roundRect">
            <a:avLst>
              <a:gd name="adj" fmla="val 13158"/>
            </a:avLst>
          </a:prstGeom>
          <a:solidFill>
            <a:srgbClr val="E4F4F3"/>
          </a:solidFill>
          <a:ln w="9525">
            <a:solidFill>
              <a:srgbClr val="238C8C"/>
            </a:solidFill>
            <a:prstDash val="solid"/>
          </a:ln>
        </p:spPr>
        <p:txBody>
          <a:bodyPr/>
          <a:lstStyle/>
          <a:p>
            <a:endParaRPr lang="en-CA"/>
          </a:p>
        </p:txBody>
      </p:sp>
      <p:sp>
        <p:nvSpPr>
          <p:cNvPr id="11" name="Rectangle 10">
            <a:extLst>
              <a:ext uri="{FF2B5EF4-FFF2-40B4-BE49-F238E27FC236}">
                <a16:creationId xmlns:a16="http://schemas.microsoft.com/office/drawing/2014/main" id="{06A390A6-75DF-4673-ACFF-5CBCFFE3A841}"/>
              </a:ext>
            </a:extLst>
          </p:cNvPr>
          <p:cNvSpPr>
            <a:spLocks noGrp="1"/>
          </p:cNvSpPr>
          <p:nvPr/>
        </p:nvSpPr>
        <p:spPr>
          <a:xfrm>
            <a:off x="800100" y="3067050"/>
            <a:ext cx="21145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ICE trades</a:t>
            </a:r>
          </a:p>
        </p:txBody>
      </p:sp>
      <p:sp>
        <p:nvSpPr>
          <p:cNvPr id="12" name="Rectangle 11">
            <a:extLst>
              <a:ext uri="{FF2B5EF4-FFF2-40B4-BE49-F238E27FC236}">
                <a16:creationId xmlns:a16="http://schemas.microsoft.com/office/drawing/2014/main" id="{343DBB97-0BA4-416D-A2F7-F477BB5D29F1}"/>
              </a:ext>
            </a:extLst>
          </p:cNvPr>
          <p:cNvSpPr>
            <a:spLocks noGrp="1"/>
          </p:cNvSpPr>
          <p:nvPr/>
        </p:nvSpPr>
        <p:spPr>
          <a:xfrm>
            <a:off x="800100" y="3305175"/>
            <a:ext cx="2114550" cy="314325"/>
          </a:xfrm>
          <a:prstGeom prst="rect">
            <a:avLst/>
          </a:prstGeom>
          <a:noFill/>
          <a:ln w="0">
            <a:noFill/>
          </a:ln>
        </p:spPr>
        <p:txBody>
          <a:bodyPr wrap="square" lIns="0" tIns="0" rIns="0" bIns="0" anchor="t">
            <a:normAutofit fontScale="94784"/>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Automatic capture from ICE and ICE Chat</a:t>
            </a:r>
          </a:p>
        </p:txBody>
      </p:sp>
      <p:sp>
        <p:nvSpPr>
          <p:cNvPr id="13" name="Rectangle: Rounded Corners 12">
            <a:extLst>
              <a:ext uri="{FF2B5EF4-FFF2-40B4-BE49-F238E27FC236}">
                <a16:creationId xmlns:a16="http://schemas.microsoft.com/office/drawing/2014/main" id="{487CED4E-1D6B-4268-8750-B66167CDA78E}"/>
              </a:ext>
            </a:extLst>
          </p:cNvPr>
          <p:cNvSpPr>
            <a:spLocks noGrp="1"/>
          </p:cNvSpPr>
          <p:nvPr/>
        </p:nvSpPr>
        <p:spPr>
          <a:xfrm>
            <a:off x="685800" y="4019550"/>
            <a:ext cx="2343150" cy="723900"/>
          </a:xfrm>
          <a:prstGeom prst="roundRect">
            <a:avLst>
              <a:gd name="adj" fmla="val 13158"/>
            </a:avLst>
          </a:prstGeom>
          <a:solidFill>
            <a:srgbClr val="FBEEE1"/>
          </a:solidFill>
          <a:ln w="9525">
            <a:solidFill>
              <a:srgbClr val="C96B10"/>
            </a:solidFill>
            <a:prstDash val="solid"/>
          </a:ln>
        </p:spPr>
        <p:txBody>
          <a:bodyPr/>
          <a:lstStyle/>
          <a:p>
            <a:endParaRPr lang="en-CA"/>
          </a:p>
        </p:txBody>
      </p:sp>
      <p:sp>
        <p:nvSpPr>
          <p:cNvPr id="14" name="Rectangle 13">
            <a:extLst>
              <a:ext uri="{FF2B5EF4-FFF2-40B4-BE49-F238E27FC236}">
                <a16:creationId xmlns:a16="http://schemas.microsoft.com/office/drawing/2014/main" id="{9A162620-26D5-4D37-AED4-1EDAAF5D885E}"/>
              </a:ext>
            </a:extLst>
          </p:cNvPr>
          <p:cNvSpPr>
            <a:spLocks noGrp="1"/>
          </p:cNvSpPr>
          <p:nvPr/>
        </p:nvSpPr>
        <p:spPr>
          <a:xfrm>
            <a:off x="800100" y="4114800"/>
            <a:ext cx="211455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Manual trades</a:t>
            </a:r>
          </a:p>
        </p:txBody>
      </p:sp>
      <p:sp>
        <p:nvSpPr>
          <p:cNvPr id="15" name="Rectangle 14">
            <a:extLst>
              <a:ext uri="{FF2B5EF4-FFF2-40B4-BE49-F238E27FC236}">
                <a16:creationId xmlns:a16="http://schemas.microsoft.com/office/drawing/2014/main" id="{B6A29CAF-C625-4163-82B3-5992F3454472}"/>
              </a:ext>
            </a:extLst>
          </p:cNvPr>
          <p:cNvSpPr>
            <a:spLocks noGrp="1"/>
          </p:cNvSpPr>
          <p:nvPr/>
        </p:nvSpPr>
        <p:spPr>
          <a:xfrm>
            <a:off x="800100" y="4352925"/>
            <a:ext cx="2114550" cy="314325"/>
          </a:xfrm>
          <a:prstGeom prst="rect">
            <a:avLst/>
          </a:prstGeom>
          <a:noFill/>
          <a:ln w="0">
            <a:noFill/>
          </a:ln>
        </p:spPr>
        <p:txBody>
          <a:bodyPr wrap="square" lIns="0" tIns="0" rIns="0" bIns="0" anchor="t">
            <a:normAutofit fontScale="94784"/>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Fast entry for phone or unsupported channels</a:t>
            </a:r>
          </a:p>
        </p:txBody>
      </p:sp>
      <p:sp>
        <p:nvSpPr>
          <p:cNvPr id="16" name="Rectangle: Rounded Corners 15">
            <a:extLst>
              <a:ext uri="{FF2B5EF4-FFF2-40B4-BE49-F238E27FC236}">
                <a16:creationId xmlns:a16="http://schemas.microsoft.com/office/drawing/2014/main" id="{B02C0662-51DB-49DB-853B-71FC8F0D40D5}"/>
              </a:ext>
            </a:extLst>
          </p:cNvPr>
          <p:cNvSpPr>
            <a:spLocks noGrp="1"/>
          </p:cNvSpPr>
          <p:nvPr/>
        </p:nvSpPr>
        <p:spPr>
          <a:xfrm>
            <a:off x="4000500" y="2028825"/>
            <a:ext cx="4000500" cy="2381250"/>
          </a:xfrm>
          <a:prstGeom prst="roundRect">
            <a:avLst>
              <a:gd name="adj" fmla="val 4000"/>
            </a:avLst>
          </a:prstGeom>
          <a:solidFill>
            <a:srgbClr val="FFFFFF"/>
          </a:solidFill>
          <a:ln w="19050">
            <a:solidFill>
              <a:srgbClr val="12355B"/>
            </a:solidFill>
            <a:prstDash val="solid"/>
          </a:ln>
        </p:spPr>
        <p:txBody>
          <a:bodyPr/>
          <a:lstStyle/>
          <a:p>
            <a:endParaRPr lang="en-CA"/>
          </a:p>
        </p:txBody>
      </p:sp>
      <p:sp>
        <p:nvSpPr>
          <p:cNvPr id="17" name="Rectangle 16">
            <a:extLst>
              <a:ext uri="{FF2B5EF4-FFF2-40B4-BE49-F238E27FC236}">
                <a16:creationId xmlns:a16="http://schemas.microsoft.com/office/drawing/2014/main" id="{5FD43196-CA9B-4E5E-AAAC-C434977A117F}"/>
              </a:ext>
            </a:extLst>
          </p:cNvPr>
          <p:cNvSpPr>
            <a:spLocks noGrp="1"/>
          </p:cNvSpPr>
          <p:nvPr/>
        </p:nvSpPr>
        <p:spPr>
          <a:xfrm>
            <a:off x="4114800" y="2124075"/>
            <a:ext cx="3771900" cy="238125"/>
          </a:xfrm>
          <a:prstGeom prst="rect">
            <a:avLst/>
          </a:prstGeom>
          <a:noFill/>
          <a:ln w="0">
            <a:noFill/>
          </a:ln>
        </p:spPr>
        <p:txBody>
          <a:bodyPr wrap="square" lIns="0" tIns="0" rIns="0" bIns="0" anchor="ctr">
            <a:normAutofit fontScale="80437"/>
          </a:bodyPr>
          <a:lstStyle/>
          <a:p>
            <a:pPr algn="l">
              <a:defRPr sz="1725" b="1">
                <a:solidFill>
                  <a:srgbClr val="15283B"/>
                </a:solidFill>
                <a:latin typeface="DejaVu Sans"/>
                <a:ea typeface="DejaVu Sans"/>
                <a:cs typeface="DejaVu Sans"/>
              </a:defRPr>
            </a:pPr>
            <a:r>
              <a:rPr sz="1725" b="1">
                <a:solidFill>
                  <a:srgbClr val="15283B"/>
                </a:solidFill>
                <a:latin typeface="DejaVu Sans"/>
                <a:ea typeface="DejaVu Sans"/>
                <a:cs typeface="DejaVu Sans"/>
              </a:rPr>
              <a:t>Live position and schedule workspace</a:t>
            </a:r>
          </a:p>
        </p:txBody>
      </p:sp>
      <p:sp>
        <p:nvSpPr>
          <p:cNvPr id="18" name="Rectangle 17">
            <a:extLst>
              <a:ext uri="{FF2B5EF4-FFF2-40B4-BE49-F238E27FC236}">
                <a16:creationId xmlns:a16="http://schemas.microsoft.com/office/drawing/2014/main" id="{B117A7FC-BE38-42B8-903E-E89D0DE6B36D}"/>
              </a:ext>
            </a:extLst>
          </p:cNvPr>
          <p:cNvSpPr>
            <a:spLocks noGrp="1"/>
          </p:cNvSpPr>
          <p:nvPr/>
        </p:nvSpPr>
        <p:spPr>
          <a:xfrm>
            <a:off x="4114800" y="2505075"/>
            <a:ext cx="3771900" cy="182880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One view of active positions by flow date</a:t>
            </a:r>
          </a:p>
          <a:p>
            <a:endParaRPr sz="1350" b="0">
              <a:solidFill>
                <a:srgbClr val="5F7182"/>
              </a:solidFill>
              <a:latin typeface="DejaVu Sans"/>
              <a:ea typeface="DejaVu Sans"/>
              <a:cs typeface="DejaVu Sans"/>
            </a:endParaRPr>
          </a:p>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Many-to-many matching by hour and MW</a:t>
            </a:r>
          </a:p>
          <a:p>
            <a:endParaRPr sz="1350" b="0">
              <a:solidFill>
                <a:srgbClr val="5F7182"/>
              </a:solidFill>
              <a:latin typeface="DejaVu Sans"/>
              <a:ea typeface="DejaVu Sans"/>
              <a:cs typeface="DejaVu Sans"/>
            </a:endParaRPr>
          </a:p>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Unmatched residuals remain visible</a:t>
            </a:r>
          </a:p>
          <a:p>
            <a:endParaRPr sz="1350" b="0">
              <a:solidFill>
                <a:srgbClr val="5F7182"/>
              </a:solidFill>
              <a:latin typeface="DejaVu Sans"/>
              <a:ea typeface="DejaVu Sans"/>
              <a:cs typeface="DejaVu Sans"/>
            </a:endParaRPr>
          </a:p>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Each schedule links back to its trades</a:t>
            </a:r>
          </a:p>
        </p:txBody>
      </p:sp>
      <p:sp>
        <p:nvSpPr>
          <p:cNvPr id="19" name="Rectangle: Rounded Corners 18">
            <a:extLst>
              <a:ext uri="{FF2B5EF4-FFF2-40B4-BE49-F238E27FC236}">
                <a16:creationId xmlns:a16="http://schemas.microsoft.com/office/drawing/2014/main" id="{8582317F-D529-4BF4-8DFA-A8E48774D495}"/>
              </a:ext>
            </a:extLst>
          </p:cNvPr>
          <p:cNvSpPr>
            <a:spLocks noGrp="1"/>
          </p:cNvSpPr>
          <p:nvPr/>
        </p:nvSpPr>
        <p:spPr>
          <a:xfrm>
            <a:off x="4476750" y="4772025"/>
            <a:ext cx="3048000" cy="781050"/>
          </a:xfrm>
          <a:prstGeom prst="roundRect">
            <a:avLst>
              <a:gd name="adj" fmla="val 12195"/>
            </a:avLst>
          </a:prstGeom>
          <a:solidFill>
            <a:srgbClr val="FBEAE8"/>
          </a:solidFill>
          <a:ln w="9525">
            <a:solidFill>
              <a:srgbClr val="B42318"/>
            </a:solidFill>
            <a:prstDash val="solid"/>
          </a:ln>
        </p:spPr>
        <p:txBody>
          <a:bodyPr/>
          <a:lstStyle/>
          <a:p>
            <a:endParaRPr lang="en-CA"/>
          </a:p>
        </p:txBody>
      </p:sp>
      <p:sp>
        <p:nvSpPr>
          <p:cNvPr id="20" name="Rectangle 19">
            <a:extLst>
              <a:ext uri="{FF2B5EF4-FFF2-40B4-BE49-F238E27FC236}">
                <a16:creationId xmlns:a16="http://schemas.microsoft.com/office/drawing/2014/main" id="{2EA0840C-B760-4AD5-BE82-D5255EDC0BF2}"/>
              </a:ext>
            </a:extLst>
          </p:cNvPr>
          <p:cNvSpPr>
            <a:spLocks noGrp="1"/>
          </p:cNvSpPr>
          <p:nvPr/>
        </p:nvSpPr>
        <p:spPr>
          <a:xfrm>
            <a:off x="4591050" y="4867275"/>
            <a:ext cx="2819400" cy="238125"/>
          </a:xfrm>
          <a:prstGeom prst="rect">
            <a:avLst/>
          </a:prstGeom>
          <a:noFill/>
          <a:ln w="0">
            <a:noFill/>
          </a:ln>
        </p:spPr>
        <p:txBody>
          <a:bodyPr wrap="square" lIns="0" tIns="0" rIns="0" bIns="0" anchor="ctr">
            <a:normAutofit/>
          </a:bodyPr>
          <a:lstStyle/>
          <a:p>
            <a:pPr algn="l">
              <a:defRPr sz="1350" b="1">
                <a:solidFill>
                  <a:srgbClr val="B42318"/>
                </a:solidFill>
                <a:latin typeface="DejaVu Sans"/>
                <a:ea typeface="DejaVu Sans"/>
                <a:cs typeface="DejaVu Sans"/>
              </a:defRPr>
            </a:pPr>
            <a:r>
              <a:rPr sz="1350" b="1">
                <a:solidFill>
                  <a:srgbClr val="B42318"/>
                </a:solidFill>
                <a:latin typeface="DejaVu Sans"/>
                <a:ea typeface="DejaVu Sans"/>
                <a:cs typeface="DejaVu Sans"/>
              </a:rPr>
              <a:t>Forward validation</a:t>
            </a:r>
          </a:p>
        </p:txBody>
      </p:sp>
      <p:sp>
        <p:nvSpPr>
          <p:cNvPr id="21" name="Rectangle 20">
            <a:extLst>
              <a:ext uri="{FF2B5EF4-FFF2-40B4-BE49-F238E27FC236}">
                <a16:creationId xmlns:a16="http://schemas.microsoft.com/office/drawing/2014/main" id="{CFD61A7A-3B7D-4BE0-AD72-47C94F3272DD}"/>
              </a:ext>
            </a:extLst>
          </p:cNvPr>
          <p:cNvSpPr>
            <a:spLocks noGrp="1"/>
          </p:cNvSpPr>
          <p:nvPr/>
        </p:nvSpPr>
        <p:spPr>
          <a:xfrm>
            <a:off x="4591050" y="5105400"/>
            <a:ext cx="2819400" cy="3714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Block or flag bids, schedules and tags that do not reconcile to trades</a:t>
            </a:r>
          </a:p>
        </p:txBody>
      </p:sp>
      <p:sp>
        <p:nvSpPr>
          <p:cNvPr id="22" name="Rectangle: Rounded Corners 21">
            <a:extLst>
              <a:ext uri="{FF2B5EF4-FFF2-40B4-BE49-F238E27FC236}">
                <a16:creationId xmlns:a16="http://schemas.microsoft.com/office/drawing/2014/main" id="{77F84344-5C7A-44A0-BCD4-55C1743CBEEE}"/>
              </a:ext>
            </a:extLst>
          </p:cNvPr>
          <p:cNvSpPr>
            <a:spLocks noGrp="1"/>
          </p:cNvSpPr>
          <p:nvPr/>
        </p:nvSpPr>
        <p:spPr>
          <a:xfrm>
            <a:off x="8858250" y="1809750"/>
            <a:ext cx="2667000" cy="685800"/>
          </a:xfrm>
          <a:prstGeom prst="roundRect">
            <a:avLst>
              <a:gd name="adj" fmla="val 13889"/>
            </a:avLst>
          </a:prstGeom>
          <a:solidFill>
            <a:srgbClr val="E7F0FA"/>
          </a:solidFill>
          <a:ln w="9525">
            <a:solidFill>
              <a:srgbClr val="2B6CB0"/>
            </a:solidFill>
            <a:prstDash val="solid"/>
          </a:ln>
        </p:spPr>
        <p:txBody>
          <a:bodyPr/>
          <a:lstStyle/>
          <a:p>
            <a:endParaRPr lang="en-CA"/>
          </a:p>
        </p:txBody>
      </p:sp>
      <p:sp>
        <p:nvSpPr>
          <p:cNvPr id="23" name="Rectangle 22">
            <a:extLst>
              <a:ext uri="{FF2B5EF4-FFF2-40B4-BE49-F238E27FC236}">
                <a16:creationId xmlns:a16="http://schemas.microsoft.com/office/drawing/2014/main" id="{7F1196E3-8970-4D3A-9299-9B0C5BCFA399}"/>
              </a:ext>
            </a:extLst>
          </p:cNvPr>
          <p:cNvSpPr>
            <a:spLocks noGrp="1"/>
          </p:cNvSpPr>
          <p:nvPr/>
        </p:nvSpPr>
        <p:spPr>
          <a:xfrm>
            <a:off x="8972550" y="1905000"/>
            <a:ext cx="24384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Daily bid files</a:t>
            </a:r>
          </a:p>
        </p:txBody>
      </p:sp>
      <p:sp>
        <p:nvSpPr>
          <p:cNvPr id="24" name="Rectangle 23">
            <a:extLst>
              <a:ext uri="{FF2B5EF4-FFF2-40B4-BE49-F238E27FC236}">
                <a16:creationId xmlns:a16="http://schemas.microsoft.com/office/drawing/2014/main" id="{2430F5F8-6D8C-42EE-B801-BF1FE3685155}"/>
              </a:ext>
            </a:extLst>
          </p:cNvPr>
          <p:cNvSpPr>
            <a:spLocks noGrp="1"/>
          </p:cNvSpPr>
          <p:nvPr/>
        </p:nvSpPr>
        <p:spPr>
          <a:xfrm>
            <a:off x="8972550" y="2143125"/>
            <a:ext cx="2438400" cy="276225"/>
          </a:xfrm>
          <a:prstGeom prst="rect">
            <a:avLst/>
          </a:prstGeom>
          <a:noFill/>
          <a:ln w="0">
            <a:noFill/>
          </a:ln>
        </p:spPr>
        <p:txBody>
          <a:bodyPr wrap="square" lIns="0" tIns="0" rIns="0" bIns="0" anchor="t">
            <a:normAutofit fontScale="86164"/>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Generated from market-linked schedules</a:t>
            </a:r>
          </a:p>
        </p:txBody>
      </p:sp>
      <p:sp>
        <p:nvSpPr>
          <p:cNvPr id="25" name="Rectangle: Rounded Corners 24">
            <a:extLst>
              <a:ext uri="{FF2B5EF4-FFF2-40B4-BE49-F238E27FC236}">
                <a16:creationId xmlns:a16="http://schemas.microsoft.com/office/drawing/2014/main" id="{172BA7E5-A681-4498-A802-9F1CF7259F34}"/>
              </a:ext>
            </a:extLst>
          </p:cNvPr>
          <p:cNvSpPr>
            <a:spLocks noGrp="1"/>
          </p:cNvSpPr>
          <p:nvPr/>
        </p:nvSpPr>
        <p:spPr>
          <a:xfrm>
            <a:off x="8858250" y="2686050"/>
            <a:ext cx="2667000" cy="685800"/>
          </a:xfrm>
          <a:prstGeom prst="roundRect">
            <a:avLst>
              <a:gd name="adj" fmla="val 13889"/>
            </a:avLst>
          </a:prstGeom>
          <a:solidFill>
            <a:srgbClr val="FBEEE1"/>
          </a:solidFill>
          <a:ln w="9525">
            <a:solidFill>
              <a:srgbClr val="C96B10"/>
            </a:solidFill>
            <a:prstDash val="solid"/>
          </a:ln>
        </p:spPr>
        <p:txBody>
          <a:bodyPr/>
          <a:lstStyle/>
          <a:p>
            <a:endParaRPr lang="en-CA"/>
          </a:p>
        </p:txBody>
      </p:sp>
      <p:sp>
        <p:nvSpPr>
          <p:cNvPr id="26" name="Rectangle 25">
            <a:extLst>
              <a:ext uri="{FF2B5EF4-FFF2-40B4-BE49-F238E27FC236}">
                <a16:creationId xmlns:a16="http://schemas.microsoft.com/office/drawing/2014/main" id="{F39DBB70-A0FF-4292-B3DA-89B36657B587}"/>
              </a:ext>
            </a:extLst>
          </p:cNvPr>
          <p:cNvSpPr>
            <a:spLocks noGrp="1"/>
          </p:cNvSpPr>
          <p:nvPr/>
        </p:nvSpPr>
        <p:spPr>
          <a:xfrm>
            <a:off x="8972550" y="2781300"/>
            <a:ext cx="24384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Transmission actions</a:t>
            </a:r>
          </a:p>
        </p:txBody>
      </p:sp>
      <p:sp>
        <p:nvSpPr>
          <p:cNvPr id="27" name="Rectangle 26">
            <a:extLst>
              <a:ext uri="{FF2B5EF4-FFF2-40B4-BE49-F238E27FC236}">
                <a16:creationId xmlns:a16="http://schemas.microsoft.com/office/drawing/2014/main" id="{882E3E13-79AF-4AEA-AD1E-017D422F2DC5}"/>
              </a:ext>
            </a:extLst>
          </p:cNvPr>
          <p:cNvSpPr>
            <a:spLocks noGrp="1"/>
          </p:cNvSpPr>
          <p:nvPr/>
        </p:nvSpPr>
        <p:spPr>
          <a:xfrm>
            <a:off x="8972550" y="3019425"/>
            <a:ext cx="2438400" cy="276225"/>
          </a:xfrm>
          <a:prstGeom prst="rect">
            <a:avLst/>
          </a:prstGeom>
          <a:noFill/>
          <a:ln w="0">
            <a:noFill/>
          </a:ln>
        </p:spPr>
        <p:txBody>
          <a:bodyPr wrap="square" lIns="0" tIns="0" rIns="0" bIns="0" anchor="t">
            <a:normAutofit fontScale="83295"/>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Need identified, options suggested, reservation or robot prepared</a:t>
            </a:r>
          </a:p>
        </p:txBody>
      </p:sp>
      <p:sp>
        <p:nvSpPr>
          <p:cNvPr id="28" name="Rectangle: Rounded Corners 27">
            <a:extLst>
              <a:ext uri="{FF2B5EF4-FFF2-40B4-BE49-F238E27FC236}">
                <a16:creationId xmlns:a16="http://schemas.microsoft.com/office/drawing/2014/main" id="{D1CE0D16-FC4C-4348-B055-2FCA7C756019}"/>
              </a:ext>
            </a:extLst>
          </p:cNvPr>
          <p:cNvSpPr>
            <a:spLocks noGrp="1"/>
          </p:cNvSpPr>
          <p:nvPr/>
        </p:nvSpPr>
        <p:spPr>
          <a:xfrm>
            <a:off x="8858250" y="3562350"/>
            <a:ext cx="2667000" cy="685800"/>
          </a:xfrm>
          <a:prstGeom prst="roundRect">
            <a:avLst>
              <a:gd name="adj" fmla="val 13889"/>
            </a:avLst>
          </a:prstGeom>
          <a:solidFill>
            <a:srgbClr val="E4F4F3"/>
          </a:solidFill>
          <a:ln w="9525">
            <a:solidFill>
              <a:srgbClr val="238C8C"/>
            </a:solidFill>
            <a:prstDash val="solid"/>
          </a:ln>
        </p:spPr>
        <p:txBody>
          <a:bodyPr/>
          <a:lstStyle/>
          <a:p>
            <a:endParaRPr lang="en-CA"/>
          </a:p>
        </p:txBody>
      </p:sp>
      <p:sp>
        <p:nvSpPr>
          <p:cNvPr id="29" name="Rectangle 28">
            <a:extLst>
              <a:ext uri="{FF2B5EF4-FFF2-40B4-BE49-F238E27FC236}">
                <a16:creationId xmlns:a16="http://schemas.microsoft.com/office/drawing/2014/main" id="{4D81A2CA-802C-4902-BDA3-C8EFD5D34C92}"/>
              </a:ext>
            </a:extLst>
          </p:cNvPr>
          <p:cNvSpPr>
            <a:spLocks noGrp="1"/>
          </p:cNvSpPr>
          <p:nvPr/>
        </p:nvSpPr>
        <p:spPr>
          <a:xfrm>
            <a:off x="8972550" y="3657600"/>
            <a:ext cx="24384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E-Tag Excel files</a:t>
            </a:r>
          </a:p>
        </p:txBody>
      </p:sp>
      <p:sp>
        <p:nvSpPr>
          <p:cNvPr id="30" name="Rectangle 29">
            <a:extLst>
              <a:ext uri="{FF2B5EF4-FFF2-40B4-BE49-F238E27FC236}">
                <a16:creationId xmlns:a16="http://schemas.microsoft.com/office/drawing/2014/main" id="{DE20A779-7707-45F8-B7FD-04E709C55FB9}"/>
              </a:ext>
            </a:extLst>
          </p:cNvPr>
          <p:cNvSpPr>
            <a:spLocks noGrp="1"/>
          </p:cNvSpPr>
          <p:nvPr/>
        </p:nvSpPr>
        <p:spPr>
          <a:xfrm>
            <a:off x="8972550" y="3895725"/>
            <a:ext cx="2438400" cy="276225"/>
          </a:xfrm>
          <a:prstGeom prst="rect">
            <a:avLst/>
          </a:prstGeom>
          <a:noFill/>
          <a:ln w="0">
            <a:noFill/>
          </a:ln>
        </p:spPr>
        <p:txBody>
          <a:bodyPr wrap="square" lIns="0" tIns="0" rIns="0" bIns="0" anchor="t">
            <a:normAutofit fontScale="83295"/>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Built from trades, matches, paths and transmission</a:t>
            </a:r>
          </a:p>
        </p:txBody>
      </p:sp>
      <p:sp>
        <p:nvSpPr>
          <p:cNvPr id="31" name="Rectangle: Rounded Corners 30">
            <a:extLst>
              <a:ext uri="{FF2B5EF4-FFF2-40B4-BE49-F238E27FC236}">
                <a16:creationId xmlns:a16="http://schemas.microsoft.com/office/drawing/2014/main" id="{36C792FD-17F8-4B26-AC54-F48F6E8C2563}"/>
              </a:ext>
            </a:extLst>
          </p:cNvPr>
          <p:cNvSpPr>
            <a:spLocks noGrp="1"/>
          </p:cNvSpPr>
          <p:nvPr/>
        </p:nvSpPr>
        <p:spPr>
          <a:xfrm>
            <a:off x="8858250" y="4438650"/>
            <a:ext cx="2667000" cy="685800"/>
          </a:xfrm>
          <a:prstGeom prst="roundRect">
            <a:avLst>
              <a:gd name="adj" fmla="val 13889"/>
            </a:avLst>
          </a:prstGeom>
          <a:solidFill>
            <a:srgbClr val="E7F3ED"/>
          </a:solidFill>
          <a:ln w="9525">
            <a:solidFill>
              <a:srgbClr val="2E7D5B"/>
            </a:solidFill>
            <a:prstDash val="solid"/>
          </a:ln>
        </p:spPr>
        <p:txBody>
          <a:bodyPr/>
          <a:lstStyle/>
          <a:p>
            <a:endParaRPr lang="en-CA"/>
          </a:p>
        </p:txBody>
      </p:sp>
      <p:sp>
        <p:nvSpPr>
          <p:cNvPr id="32" name="Rectangle 31">
            <a:extLst>
              <a:ext uri="{FF2B5EF4-FFF2-40B4-BE49-F238E27FC236}">
                <a16:creationId xmlns:a16="http://schemas.microsoft.com/office/drawing/2014/main" id="{23E0A011-B194-4922-8317-28EC7ED9701F}"/>
              </a:ext>
            </a:extLst>
          </p:cNvPr>
          <p:cNvSpPr>
            <a:spLocks noGrp="1"/>
          </p:cNvSpPr>
          <p:nvPr/>
        </p:nvSpPr>
        <p:spPr>
          <a:xfrm>
            <a:off x="8972550" y="4533900"/>
            <a:ext cx="24384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Trade database entry</a:t>
            </a:r>
          </a:p>
        </p:txBody>
      </p:sp>
      <p:sp>
        <p:nvSpPr>
          <p:cNvPr id="33" name="Rectangle 32">
            <a:extLst>
              <a:ext uri="{FF2B5EF4-FFF2-40B4-BE49-F238E27FC236}">
                <a16:creationId xmlns:a16="http://schemas.microsoft.com/office/drawing/2014/main" id="{628CDC0D-3128-423D-9E2A-3AAECED9B2DB}"/>
              </a:ext>
            </a:extLst>
          </p:cNvPr>
          <p:cNvSpPr>
            <a:spLocks noGrp="1"/>
          </p:cNvSpPr>
          <p:nvPr/>
        </p:nvSpPr>
        <p:spPr>
          <a:xfrm>
            <a:off x="8972550" y="4772025"/>
            <a:ext cx="2438400" cy="276225"/>
          </a:xfrm>
          <a:prstGeom prst="rect">
            <a:avLst/>
          </a:prstGeom>
          <a:noFill/>
          <a:ln w="0">
            <a:noFill/>
          </a:ln>
        </p:spPr>
        <p:txBody>
          <a:bodyPr wrap="square" lIns="0" tIns="0" rIns="0" bIns="0" anchor="t">
            <a:normAutofit fontScale="83295"/>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Trader reviews and submits complete trade records</a:t>
            </a:r>
          </a:p>
        </p:txBody>
      </p:sp>
      <p:sp>
        <p:nvSpPr>
          <p:cNvPr id="34" name="Rectangle: Rounded Corners 33">
            <a:extLst>
              <a:ext uri="{FF2B5EF4-FFF2-40B4-BE49-F238E27FC236}">
                <a16:creationId xmlns:a16="http://schemas.microsoft.com/office/drawing/2014/main" id="{812B207B-DB1E-4A78-8845-8901BD2CC4A3}"/>
              </a:ext>
            </a:extLst>
          </p:cNvPr>
          <p:cNvSpPr>
            <a:spLocks noGrp="1"/>
          </p:cNvSpPr>
          <p:nvPr/>
        </p:nvSpPr>
        <p:spPr>
          <a:xfrm>
            <a:off x="8858250" y="5314950"/>
            <a:ext cx="2667000" cy="685800"/>
          </a:xfrm>
          <a:prstGeom prst="roundRect">
            <a:avLst>
              <a:gd name="adj" fmla="val 13889"/>
            </a:avLst>
          </a:prstGeom>
          <a:solidFill>
            <a:srgbClr val="FFFFFF"/>
          </a:solidFill>
          <a:ln w="9525">
            <a:solidFill>
              <a:srgbClr val="12355B"/>
            </a:solidFill>
            <a:prstDash val="solid"/>
          </a:ln>
        </p:spPr>
        <p:txBody>
          <a:bodyPr/>
          <a:lstStyle/>
          <a:p>
            <a:endParaRPr lang="en-CA"/>
          </a:p>
        </p:txBody>
      </p:sp>
      <p:sp>
        <p:nvSpPr>
          <p:cNvPr id="35" name="Rectangle 34">
            <a:extLst>
              <a:ext uri="{FF2B5EF4-FFF2-40B4-BE49-F238E27FC236}">
                <a16:creationId xmlns:a16="http://schemas.microsoft.com/office/drawing/2014/main" id="{051CBD5E-11A3-4A83-94F6-98EBC45B8FEC}"/>
              </a:ext>
            </a:extLst>
          </p:cNvPr>
          <p:cNvSpPr>
            <a:spLocks noGrp="1"/>
          </p:cNvSpPr>
          <p:nvPr/>
        </p:nvSpPr>
        <p:spPr>
          <a:xfrm>
            <a:off x="8972550" y="5410200"/>
            <a:ext cx="2438400" cy="238125"/>
          </a:xfrm>
          <a:prstGeom prst="rect">
            <a:avLst/>
          </a:prstGeom>
          <a:noFill/>
          <a:ln w="0">
            <a:noFill/>
          </a:ln>
        </p:spPr>
        <p:txBody>
          <a:bodyPr wrap="square" lIns="0" tIns="0" rIns="0" bIns="0" anchor="ctr">
            <a:normAutofit fontScale="93842"/>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DA summary and RT queue</a:t>
            </a:r>
          </a:p>
        </p:txBody>
      </p:sp>
      <p:sp>
        <p:nvSpPr>
          <p:cNvPr id="36" name="Rectangle 35">
            <a:extLst>
              <a:ext uri="{FF2B5EF4-FFF2-40B4-BE49-F238E27FC236}">
                <a16:creationId xmlns:a16="http://schemas.microsoft.com/office/drawing/2014/main" id="{CB5878BA-AD34-421A-B8D6-CF1A831FA42F}"/>
              </a:ext>
            </a:extLst>
          </p:cNvPr>
          <p:cNvSpPr>
            <a:spLocks noGrp="1"/>
          </p:cNvSpPr>
          <p:nvPr/>
        </p:nvSpPr>
        <p:spPr>
          <a:xfrm>
            <a:off x="8972550" y="5648325"/>
            <a:ext cx="2438400" cy="276225"/>
          </a:xfrm>
          <a:prstGeom prst="rect">
            <a:avLst/>
          </a:prstGeom>
          <a:noFill/>
          <a:ln w="0">
            <a:noFill/>
          </a:ln>
        </p:spPr>
        <p:txBody>
          <a:bodyPr wrap="square" lIns="0" tIns="0" rIns="0" bIns="0" anchor="t">
            <a:normAutofit fontScale="83295"/>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Draft narrative plus open positions and actions</a:t>
            </a:r>
          </a:p>
        </p:txBody>
      </p:sp>
      <p:cxnSp>
        <p:nvCxnSpPr>
          <p:cNvPr id="84" name="Connector: Elbow 83"/>
          <p:cNvCxnSpPr>
            <a:stCxn id="7" idx="3"/>
            <a:endCxn id="16" idx="1"/>
          </p:cNvCxnSpPr>
          <p:nvPr/>
        </p:nvCxnSpPr>
        <p:spPr>
          <a:xfrm>
            <a:off x="3028950" y="2286000"/>
            <a:ext cx="971550" cy="933450"/>
          </a:xfrm>
          <a:prstGeom prst="bentConnector3">
            <a:avLst>
              <a:gd name="adj1" fmla="val 50000"/>
            </a:avLst>
          </a:prstGeom>
          <a:ln w="19050">
            <a:solidFill>
              <a:srgbClr val="12355B"/>
            </a:solidFill>
            <a:prstDash val="solid"/>
            <a:headEnd type="none" w="med" len="med"/>
            <a:tailEnd type="triangle" w="sm" len="sm"/>
          </a:ln>
        </p:spPr>
      </p:cxnSp>
      <p:cxnSp>
        <p:nvCxnSpPr>
          <p:cNvPr id="85" name="Connector: Elbow 84"/>
          <p:cNvCxnSpPr>
            <a:stCxn id="10" idx="3"/>
            <a:endCxn id="16" idx="1"/>
          </p:cNvCxnSpPr>
          <p:nvPr/>
        </p:nvCxnSpPr>
        <p:spPr>
          <a:xfrm flipV="1">
            <a:off x="3028950" y="3219450"/>
            <a:ext cx="971550" cy="114300"/>
          </a:xfrm>
          <a:prstGeom prst="bentConnector3">
            <a:avLst>
              <a:gd name="adj1" fmla="val 50000"/>
            </a:avLst>
          </a:prstGeom>
          <a:ln w="19050">
            <a:solidFill>
              <a:srgbClr val="12355B"/>
            </a:solidFill>
            <a:prstDash val="solid"/>
            <a:headEnd type="none" w="med" len="med"/>
            <a:tailEnd type="triangle" w="sm" len="sm"/>
          </a:ln>
        </p:spPr>
      </p:cxnSp>
      <p:cxnSp>
        <p:nvCxnSpPr>
          <p:cNvPr id="86" name="Connector: Elbow 85"/>
          <p:cNvCxnSpPr>
            <a:stCxn id="13" idx="3"/>
            <a:endCxn id="16" idx="1"/>
          </p:cNvCxnSpPr>
          <p:nvPr/>
        </p:nvCxnSpPr>
        <p:spPr>
          <a:xfrm flipV="1">
            <a:off x="3028950" y="3219450"/>
            <a:ext cx="971550" cy="1162050"/>
          </a:xfrm>
          <a:prstGeom prst="bentConnector3">
            <a:avLst>
              <a:gd name="adj1" fmla="val 50000"/>
            </a:avLst>
          </a:prstGeom>
          <a:ln w="19050">
            <a:solidFill>
              <a:srgbClr val="12355B"/>
            </a:solidFill>
            <a:prstDash val="solid"/>
            <a:headEnd type="none" w="med" len="med"/>
            <a:tailEnd type="triangle" w="sm" len="sm"/>
          </a:ln>
        </p:spPr>
      </p:cxnSp>
      <p:cxnSp>
        <p:nvCxnSpPr>
          <p:cNvPr id="87" name="Straight Arrow Connector 86"/>
          <p:cNvCxnSpPr>
            <a:stCxn id="16" idx="2"/>
            <a:endCxn id="19" idx="0"/>
          </p:cNvCxnSpPr>
          <p:nvPr/>
        </p:nvCxnSpPr>
        <p:spPr>
          <a:xfrm>
            <a:off x="6000750" y="4410075"/>
            <a:ext cx="0" cy="361950"/>
          </a:xfrm>
          <a:prstGeom prst="straightConnector1">
            <a:avLst/>
          </a:prstGeom>
          <a:ln w="19050">
            <a:solidFill>
              <a:srgbClr val="B42318"/>
            </a:solidFill>
            <a:prstDash val="solid"/>
            <a:headEnd type="none" w="med" len="med"/>
            <a:tailEnd type="triangle" w="sm" len="sm"/>
          </a:ln>
        </p:spPr>
      </p:cxnSp>
      <p:cxnSp>
        <p:nvCxnSpPr>
          <p:cNvPr id="88" name="Connector: Elbow 87"/>
          <p:cNvCxnSpPr>
            <a:stCxn id="16" idx="3"/>
            <a:endCxn id="22" idx="1"/>
          </p:cNvCxnSpPr>
          <p:nvPr/>
        </p:nvCxnSpPr>
        <p:spPr>
          <a:xfrm flipV="1">
            <a:off x="8001000" y="2152650"/>
            <a:ext cx="857250" cy="1066800"/>
          </a:xfrm>
          <a:prstGeom prst="bentConnector3">
            <a:avLst>
              <a:gd name="adj1" fmla="val 50000"/>
            </a:avLst>
          </a:prstGeom>
          <a:ln w="19050">
            <a:solidFill>
              <a:srgbClr val="12355B"/>
            </a:solidFill>
            <a:prstDash val="solid"/>
            <a:headEnd type="none" w="med" len="med"/>
            <a:tailEnd type="triangle" w="sm" len="sm"/>
          </a:ln>
        </p:spPr>
      </p:cxnSp>
      <p:cxnSp>
        <p:nvCxnSpPr>
          <p:cNvPr id="89" name="Connector: Elbow 88"/>
          <p:cNvCxnSpPr>
            <a:stCxn id="16" idx="3"/>
            <a:endCxn id="25" idx="1"/>
          </p:cNvCxnSpPr>
          <p:nvPr/>
        </p:nvCxnSpPr>
        <p:spPr>
          <a:xfrm flipV="1">
            <a:off x="8001000" y="3028950"/>
            <a:ext cx="857250" cy="190500"/>
          </a:xfrm>
          <a:prstGeom prst="bentConnector3">
            <a:avLst>
              <a:gd name="adj1" fmla="val 50000"/>
            </a:avLst>
          </a:prstGeom>
          <a:ln w="19050">
            <a:solidFill>
              <a:srgbClr val="12355B"/>
            </a:solidFill>
            <a:prstDash val="solid"/>
            <a:headEnd type="none" w="med" len="med"/>
            <a:tailEnd type="triangle" w="sm" len="sm"/>
          </a:ln>
        </p:spPr>
      </p:cxnSp>
      <p:cxnSp>
        <p:nvCxnSpPr>
          <p:cNvPr id="90" name="Connector: Elbow 89"/>
          <p:cNvCxnSpPr>
            <a:stCxn id="16" idx="3"/>
            <a:endCxn id="28" idx="1"/>
          </p:cNvCxnSpPr>
          <p:nvPr/>
        </p:nvCxnSpPr>
        <p:spPr>
          <a:xfrm>
            <a:off x="8001000" y="3219450"/>
            <a:ext cx="857250" cy="685800"/>
          </a:xfrm>
          <a:prstGeom prst="bentConnector3">
            <a:avLst>
              <a:gd name="adj1" fmla="val 50000"/>
            </a:avLst>
          </a:prstGeom>
          <a:ln w="19050">
            <a:solidFill>
              <a:srgbClr val="12355B"/>
            </a:solidFill>
            <a:prstDash val="solid"/>
            <a:headEnd type="none" w="med" len="med"/>
            <a:tailEnd type="triangle" w="sm" len="sm"/>
          </a:ln>
        </p:spPr>
      </p:cxnSp>
      <p:cxnSp>
        <p:nvCxnSpPr>
          <p:cNvPr id="91" name="Connector: Elbow 90"/>
          <p:cNvCxnSpPr>
            <a:stCxn id="16" idx="3"/>
            <a:endCxn id="31" idx="1"/>
          </p:cNvCxnSpPr>
          <p:nvPr/>
        </p:nvCxnSpPr>
        <p:spPr>
          <a:xfrm>
            <a:off x="8001000" y="3219450"/>
            <a:ext cx="857250" cy="1562100"/>
          </a:xfrm>
          <a:prstGeom prst="bentConnector3">
            <a:avLst>
              <a:gd name="adj1" fmla="val 50000"/>
            </a:avLst>
          </a:prstGeom>
          <a:ln w="19050">
            <a:solidFill>
              <a:srgbClr val="12355B"/>
            </a:solidFill>
            <a:prstDash val="solid"/>
            <a:headEnd type="none" w="med" len="med"/>
            <a:tailEnd type="triangle" w="sm" len="sm"/>
          </a:ln>
        </p:spPr>
      </p:cxnSp>
      <p:cxnSp>
        <p:nvCxnSpPr>
          <p:cNvPr id="92" name="Connector: Elbow 91"/>
          <p:cNvCxnSpPr>
            <a:stCxn id="16" idx="3"/>
            <a:endCxn id="34" idx="1"/>
          </p:cNvCxnSpPr>
          <p:nvPr/>
        </p:nvCxnSpPr>
        <p:spPr>
          <a:xfrm>
            <a:off x="8001000" y="3219450"/>
            <a:ext cx="857250" cy="2438400"/>
          </a:xfrm>
          <a:prstGeom prst="bentConnector3">
            <a:avLst>
              <a:gd name="adj1" fmla="val 50000"/>
            </a:avLst>
          </a:prstGeom>
          <a:ln w="19050">
            <a:solidFill>
              <a:srgbClr val="12355B"/>
            </a:solidFill>
            <a:prstDash val="solid"/>
            <a:headEnd type="none" w="med" len="med"/>
            <a:tailEnd type="triangle" w="sm" len="sm"/>
          </a:ln>
        </p:spPr>
      </p:cxnSp>
      <p:sp>
        <p:nvSpPr>
          <p:cNvPr id="46" name="Rectangle 45">
            <a:extLst>
              <a:ext uri="{FF2B5EF4-FFF2-40B4-BE49-F238E27FC236}">
                <a16:creationId xmlns:a16="http://schemas.microsoft.com/office/drawing/2014/main" id="{3ED3149F-B6E5-46A8-A5C3-CAE1E9C2334F}"/>
              </a:ext>
            </a:extLst>
          </p:cNvPr>
          <p:cNvSpPr>
            <a:spLocks noGrp="1"/>
          </p:cNvSpPr>
          <p:nvPr/>
        </p:nvSpPr>
        <p:spPr>
          <a:xfrm>
            <a:off x="2514600" y="6153150"/>
            <a:ext cx="7162800" cy="323850"/>
          </a:xfrm>
          <a:prstGeom prst="rect">
            <a:avLst/>
          </a:prstGeom>
          <a:noFill/>
          <a:ln w="0">
            <a:noFill/>
          </a:ln>
        </p:spPr>
        <p:txBody>
          <a:bodyPr wrap="square" lIns="0" tIns="0" rIns="0" bIns="0" anchor="t">
            <a:normAutofit fontScale="74561"/>
          </a:bodyPr>
          <a:lstStyle/>
          <a:p>
            <a:pPr algn="ctr">
              <a:defRPr sz="1425" b="1">
                <a:solidFill>
                  <a:srgbClr val="12355B"/>
                </a:solidFill>
                <a:latin typeface="DejaVu Sans"/>
                <a:ea typeface="DejaVu Sans"/>
                <a:cs typeface="DejaVu Sans"/>
              </a:defRPr>
            </a:pPr>
            <a:r>
              <a:rPr sz="1425" b="1">
                <a:solidFill>
                  <a:srgbClr val="12355B"/>
                </a:solidFill>
                <a:latin typeface="DejaVu Sans"/>
                <a:ea typeface="DejaVu Sans"/>
                <a:cs typeface="DejaVu Sans"/>
              </a:rPr>
              <a:t>The workspace maintains lineage from the original trade through every split schedule, bid, transmission reservation and tag.</a:t>
            </a:r>
          </a:p>
        </p:txBody>
      </p:sp>
      <p:sp>
        <p:nvSpPr>
          <p:cNvPr id="47" name="Rectangle 46">
            <a:extLst>
              <a:ext uri="{FF2B5EF4-FFF2-40B4-BE49-F238E27FC236}">
                <a16:creationId xmlns:a16="http://schemas.microsoft.com/office/drawing/2014/main" id="{5F685578-9B19-4D1D-A31F-07EDD18CC95C}"/>
              </a:ext>
            </a:extLst>
          </p:cNvPr>
          <p:cNvSpPr>
            <a:spLocks noGrp="1"/>
          </p:cNvSpPr>
          <p:nvPr/>
        </p:nvSpPr>
        <p:spPr>
          <a:xfrm>
            <a:off x="11106150" y="6534150"/>
            <a:ext cx="476250" cy="171450"/>
          </a:xfrm>
          <a:prstGeom prst="rect">
            <a:avLst/>
          </a:prstGeom>
          <a:noFill/>
          <a:ln w="0">
            <a:noFill/>
          </a:ln>
        </p:spPr>
        <p:txBody>
          <a:bodyPr wrap="square" lIns="0" tIns="0" rIns="0" bIns="0" anchor="t">
            <a:normAutofit/>
          </a:bodyPr>
          <a:lstStyle/>
          <a:p>
            <a:pPr algn="r">
              <a:defRPr sz="975" b="0">
                <a:solidFill>
                  <a:srgbClr val="5F7182"/>
                </a:solidFill>
                <a:latin typeface="DejaVu Sans"/>
                <a:ea typeface="DejaVu Sans"/>
                <a:cs typeface="DejaVu Sans"/>
              </a:defRPr>
            </a:pPr>
            <a:r>
              <a:rPr sz="975" b="0">
                <a:solidFill>
                  <a:srgbClr val="5F7182"/>
                </a:solidFill>
                <a:latin typeface="DejaVu Sans"/>
                <a:ea typeface="DejaVu Sans"/>
                <a:cs typeface="DejaVu Sans"/>
              </a:rPr>
              <a:t>03</a:t>
            </a:r>
          </a:p>
        </p:txBody>
      </p:sp>
    </p:spTree>
    <p:extLst>
      <p:ext uri="{BB962C8B-B14F-4D97-AF65-F5344CB8AC3E}">
        <p14:creationId xmlns:p14="http://schemas.microsoft.com/office/powerpoint/2010/main" val="56718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0EBFD193-D390-4D11-BACC-469566A80077}"/>
              </a:ext>
            </a:extLst>
          </p:cNvPr>
          <p:cNvSpPr>
            <a:spLocks noGrp="1"/>
          </p:cNvSpPr>
          <p:nvPr/>
        </p:nvSpPr>
        <p:spPr>
          <a:xfrm>
            <a:off x="609600" y="323850"/>
            <a:ext cx="10972800" cy="495300"/>
          </a:xfrm>
          <a:prstGeom prst="rect">
            <a:avLst/>
          </a:prstGeom>
          <a:noFill/>
          <a:ln w="0">
            <a:noFill/>
          </a:ln>
        </p:spPr>
        <p:txBody>
          <a:bodyPr wrap="square" lIns="0" tIns="0" rIns="0" bIns="0" anchor="ctr">
            <a:normAutofit/>
          </a:bodyPr>
          <a:lstStyle/>
          <a:p>
            <a:pPr algn="l">
              <a:defRPr sz="3000" b="1">
                <a:solidFill>
                  <a:srgbClr val="12355B"/>
                </a:solidFill>
                <a:latin typeface="DejaVu Sans"/>
                <a:ea typeface="DejaVu Sans"/>
                <a:cs typeface="DejaVu Sans"/>
              </a:defRPr>
            </a:pPr>
            <a:r>
              <a:rPr sz="3000" b="1">
                <a:solidFill>
                  <a:srgbClr val="12355B"/>
                </a:solidFill>
                <a:latin typeface="DejaVu Sans"/>
                <a:ea typeface="DejaVu Sans"/>
                <a:cs typeface="DejaVu Sans"/>
              </a:rPr>
              <a:t>Trade matching and schedule allocation</a:t>
            </a:r>
          </a:p>
        </p:txBody>
      </p:sp>
      <p:sp>
        <p:nvSpPr>
          <p:cNvPr id="2" name="Rectangle 1">
            <a:extLst>
              <a:ext uri="{FF2B5EF4-FFF2-40B4-BE49-F238E27FC236}">
                <a16:creationId xmlns:a16="http://schemas.microsoft.com/office/drawing/2014/main" id="{4B2AE416-95AF-43ED-8748-CC77DEE5EC53}"/>
              </a:ext>
            </a:extLst>
          </p:cNvPr>
          <p:cNvSpPr>
            <a:spLocks noGrp="1"/>
          </p:cNvSpPr>
          <p:nvPr/>
        </p:nvSpPr>
        <p:spPr>
          <a:xfrm>
            <a:off x="628650" y="819150"/>
            <a:ext cx="10934700" cy="28575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The model must split MW and hours across several buys and sells without losing the original trade lineage</a:t>
            </a:r>
          </a:p>
        </p:txBody>
      </p:sp>
      <p:sp>
        <p:nvSpPr>
          <p:cNvPr id="3" name="Straight Connector 2">
            <a:extLst>
              <a:ext uri="{FF2B5EF4-FFF2-40B4-BE49-F238E27FC236}">
                <a16:creationId xmlns:a16="http://schemas.microsoft.com/office/drawing/2014/main" id="{B79CF8BC-F5A2-4C60-9B31-69FA6DF90A30}"/>
              </a:ext>
            </a:extLst>
          </p:cNvPr>
          <p:cNvSpPr>
            <a:spLocks noGrp="1"/>
          </p:cNvSpPr>
          <p:nvPr/>
        </p:nvSpPr>
        <p:spPr>
          <a:xfrm>
            <a:off x="609600" y="1162050"/>
            <a:ext cx="10972800" cy="0"/>
          </a:xfrm>
          <a:prstGeom prst="line">
            <a:avLst/>
          </a:prstGeom>
          <a:noFill/>
          <a:ln w="9525">
            <a:solidFill>
              <a:srgbClr val="E3E9EF"/>
            </a:solidFill>
            <a:prstDash val="solid"/>
          </a:ln>
        </p:spPr>
        <p:txBody>
          <a:bodyPr/>
          <a:lstStyle/>
          <a:p>
            <a:endParaRPr lang="en-CA"/>
          </a:p>
        </p:txBody>
      </p:sp>
      <p:sp>
        <p:nvSpPr>
          <p:cNvPr id="4" name="Rectangle 3">
            <a:extLst>
              <a:ext uri="{FF2B5EF4-FFF2-40B4-BE49-F238E27FC236}">
                <a16:creationId xmlns:a16="http://schemas.microsoft.com/office/drawing/2014/main" id="{1069B741-49C5-4EA7-96A1-CAA01CFCD4F8}"/>
              </a:ext>
            </a:extLst>
          </p:cNvPr>
          <p:cNvSpPr>
            <a:spLocks noGrp="1"/>
          </p:cNvSpPr>
          <p:nvPr/>
        </p:nvSpPr>
        <p:spPr>
          <a:xfrm>
            <a:off x="685800" y="1476375"/>
            <a:ext cx="4762500" cy="266700"/>
          </a:xfrm>
          <a:prstGeom prst="rect">
            <a:avLst/>
          </a:prstGeom>
          <a:noFill/>
          <a:ln w="0">
            <a:noFill/>
          </a:ln>
        </p:spPr>
        <p:txBody>
          <a:bodyPr wrap="square" lIns="0" tIns="0" rIns="0" bIns="0" anchor="t">
            <a:normAutofit/>
          </a:bodyPr>
          <a:lstStyle/>
          <a:p>
            <a:pPr algn="l">
              <a:defRPr sz="1275" b="1">
                <a:solidFill>
                  <a:srgbClr val="5F7182"/>
                </a:solidFill>
                <a:latin typeface="DejaVu Sans"/>
                <a:ea typeface="DejaVu Sans"/>
                <a:cs typeface="DejaVu Sans"/>
              </a:defRPr>
            </a:pPr>
            <a:r>
              <a:rPr sz="1275" b="1">
                <a:solidFill>
                  <a:srgbClr val="5F7182"/>
                </a:solidFill>
                <a:latin typeface="DejaVu Sans"/>
                <a:ea typeface="DejaVu Sans"/>
                <a:cs typeface="DejaVu Sans"/>
              </a:rPr>
              <a:t>ONE SCHEDULE</a:t>
            </a:r>
          </a:p>
        </p:txBody>
      </p:sp>
      <p:sp>
        <p:nvSpPr>
          <p:cNvPr id="5" name="Rectangle: Rounded Corners 4">
            <a:extLst>
              <a:ext uri="{FF2B5EF4-FFF2-40B4-BE49-F238E27FC236}">
                <a16:creationId xmlns:a16="http://schemas.microsoft.com/office/drawing/2014/main" id="{5193863D-FF99-46C4-8A63-61F9E5B68299}"/>
              </a:ext>
            </a:extLst>
          </p:cNvPr>
          <p:cNvSpPr>
            <a:spLocks noGrp="1"/>
          </p:cNvSpPr>
          <p:nvPr/>
        </p:nvSpPr>
        <p:spPr>
          <a:xfrm>
            <a:off x="685800" y="2076450"/>
            <a:ext cx="2190750" cy="876300"/>
          </a:xfrm>
          <a:prstGeom prst="roundRect">
            <a:avLst>
              <a:gd name="adj" fmla="val 10870"/>
            </a:avLst>
          </a:prstGeom>
          <a:solidFill>
            <a:srgbClr val="E7F0FA"/>
          </a:solidFill>
          <a:ln w="9525">
            <a:solidFill>
              <a:srgbClr val="2B6CB0"/>
            </a:solidFill>
            <a:prstDash val="solid"/>
          </a:ln>
        </p:spPr>
        <p:txBody>
          <a:bodyPr/>
          <a:lstStyle/>
          <a:p>
            <a:endParaRPr lang="en-CA"/>
          </a:p>
        </p:txBody>
      </p:sp>
      <p:sp>
        <p:nvSpPr>
          <p:cNvPr id="6" name="Rectangle 5">
            <a:extLst>
              <a:ext uri="{FF2B5EF4-FFF2-40B4-BE49-F238E27FC236}">
                <a16:creationId xmlns:a16="http://schemas.microsoft.com/office/drawing/2014/main" id="{AA3D1AAD-3F93-4EBD-A18D-41C3523747DC}"/>
              </a:ext>
            </a:extLst>
          </p:cNvPr>
          <p:cNvSpPr>
            <a:spLocks noGrp="1"/>
          </p:cNvSpPr>
          <p:nvPr/>
        </p:nvSpPr>
        <p:spPr>
          <a:xfrm>
            <a:off x="800100" y="2171700"/>
            <a:ext cx="1962150" cy="238125"/>
          </a:xfrm>
          <a:prstGeom prst="rect">
            <a:avLst/>
          </a:prstGeom>
          <a:noFill/>
          <a:ln w="0">
            <a:noFill/>
          </a:ln>
        </p:spPr>
        <p:txBody>
          <a:bodyPr wrap="square" lIns="0" tIns="0" rIns="0" bIns="0" anchor="ctr">
            <a:normAutofit fontScale="99206"/>
          </a:bodyPr>
          <a:lstStyle/>
          <a:p>
            <a:pPr algn="l">
              <a:defRPr sz="1575" b="1">
                <a:solidFill>
                  <a:srgbClr val="15283B"/>
                </a:solidFill>
                <a:latin typeface="DejaVu Sans"/>
                <a:ea typeface="DejaVu Sans"/>
                <a:cs typeface="DejaVu Sans"/>
              </a:defRPr>
            </a:pPr>
            <a:r>
              <a:rPr sz="1575" b="1">
                <a:solidFill>
                  <a:srgbClr val="15283B"/>
                </a:solidFill>
                <a:latin typeface="DejaVu Sans"/>
                <a:ea typeface="DejaVu Sans"/>
                <a:cs typeface="DejaVu Sans"/>
              </a:rPr>
              <a:t>Buy A at Point P</a:t>
            </a:r>
          </a:p>
        </p:txBody>
      </p:sp>
      <p:sp>
        <p:nvSpPr>
          <p:cNvPr id="7" name="Rectangle 6">
            <a:extLst>
              <a:ext uri="{FF2B5EF4-FFF2-40B4-BE49-F238E27FC236}">
                <a16:creationId xmlns:a16="http://schemas.microsoft.com/office/drawing/2014/main" id="{11F286C4-6B84-4D3E-AE71-D45034B3227D}"/>
              </a:ext>
            </a:extLst>
          </p:cNvPr>
          <p:cNvSpPr>
            <a:spLocks noGrp="1"/>
          </p:cNvSpPr>
          <p:nvPr/>
        </p:nvSpPr>
        <p:spPr>
          <a:xfrm>
            <a:off x="800100" y="2409825"/>
            <a:ext cx="1962150" cy="466725"/>
          </a:xfrm>
          <a:prstGeom prst="rect">
            <a:avLst/>
          </a:prstGeom>
          <a:noFill/>
          <a:ln w="0">
            <a:noFill/>
          </a:ln>
        </p:spPr>
        <p:txBody>
          <a:bodyPr wrap="square" lIns="0" tIns="0" rIns="0" bIns="0" anchor="t">
            <a:normAutofit/>
          </a:bodyPr>
          <a:lstStyle/>
          <a:p>
            <a:pPr algn="l">
              <a:defRPr sz="1275" b="0">
                <a:solidFill>
                  <a:srgbClr val="5F7182"/>
                </a:solidFill>
                <a:latin typeface="DejaVu Sans"/>
                <a:ea typeface="DejaVu Sans"/>
                <a:cs typeface="DejaVu Sans"/>
              </a:defRPr>
            </a:pPr>
            <a:r>
              <a:rPr sz="1275" b="0">
                <a:solidFill>
                  <a:srgbClr val="5F7182"/>
                </a:solidFill>
                <a:latin typeface="DejaVu Sans"/>
                <a:ea typeface="DejaVu Sans"/>
                <a:cs typeface="DejaVu Sans"/>
              </a:rPr>
              <a:t>10 MW, HE17–22</a:t>
            </a:r>
          </a:p>
        </p:txBody>
      </p:sp>
      <p:sp>
        <p:nvSpPr>
          <p:cNvPr id="8" name="Rectangle: Rounded Corners 7">
            <a:extLst>
              <a:ext uri="{FF2B5EF4-FFF2-40B4-BE49-F238E27FC236}">
                <a16:creationId xmlns:a16="http://schemas.microsoft.com/office/drawing/2014/main" id="{EF0AF424-CB63-4F2D-A75A-3B5BF4AD8C66}"/>
              </a:ext>
            </a:extLst>
          </p:cNvPr>
          <p:cNvSpPr>
            <a:spLocks noGrp="1"/>
          </p:cNvSpPr>
          <p:nvPr/>
        </p:nvSpPr>
        <p:spPr>
          <a:xfrm>
            <a:off x="4057650" y="2076450"/>
            <a:ext cx="2190750" cy="876300"/>
          </a:xfrm>
          <a:prstGeom prst="roundRect">
            <a:avLst>
              <a:gd name="adj" fmla="val 10870"/>
            </a:avLst>
          </a:prstGeom>
          <a:solidFill>
            <a:srgbClr val="E7F3ED"/>
          </a:solidFill>
          <a:ln w="9525">
            <a:solidFill>
              <a:srgbClr val="2E7D5B"/>
            </a:solidFill>
            <a:prstDash val="solid"/>
          </a:ln>
        </p:spPr>
        <p:txBody>
          <a:bodyPr/>
          <a:lstStyle/>
          <a:p>
            <a:endParaRPr lang="en-CA"/>
          </a:p>
        </p:txBody>
      </p:sp>
      <p:sp>
        <p:nvSpPr>
          <p:cNvPr id="9" name="Rectangle 8">
            <a:extLst>
              <a:ext uri="{FF2B5EF4-FFF2-40B4-BE49-F238E27FC236}">
                <a16:creationId xmlns:a16="http://schemas.microsoft.com/office/drawing/2014/main" id="{2452EB08-72D2-4B17-97D6-F11250157FEE}"/>
              </a:ext>
            </a:extLst>
          </p:cNvPr>
          <p:cNvSpPr>
            <a:spLocks noGrp="1"/>
          </p:cNvSpPr>
          <p:nvPr/>
        </p:nvSpPr>
        <p:spPr>
          <a:xfrm>
            <a:off x="4171950" y="2171700"/>
            <a:ext cx="1962150" cy="238125"/>
          </a:xfrm>
          <a:prstGeom prst="rect">
            <a:avLst/>
          </a:prstGeom>
          <a:noFill/>
          <a:ln w="0">
            <a:noFill/>
          </a:ln>
        </p:spPr>
        <p:txBody>
          <a:bodyPr wrap="square" lIns="0" tIns="0" rIns="0" bIns="0" anchor="ctr">
            <a:normAutofit fontScale="99206"/>
          </a:bodyPr>
          <a:lstStyle/>
          <a:p>
            <a:pPr algn="l">
              <a:defRPr sz="1575" b="1">
                <a:solidFill>
                  <a:srgbClr val="15283B"/>
                </a:solidFill>
                <a:latin typeface="DejaVu Sans"/>
                <a:ea typeface="DejaVu Sans"/>
                <a:cs typeface="DejaVu Sans"/>
              </a:defRPr>
            </a:pPr>
            <a:r>
              <a:rPr sz="1575" b="1">
                <a:solidFill>
                  <a:srgbClr val="15283B"/>
                </a:solidFill>
                <a:latin typeface="DejaVu Sans"/>
                <a:ea typeface="DejaVu Sans"/>
                <a:cs typeface="DejaVu Sans"/>
              </a:rPr>
              <a:t>Sell B at Point S</a:t>
            </a:r>
          </a:p>
        </p:txBody>
      </p:sp>
      <p:sp>
        <p:nvSpPr>
          <p:cNvPr id="10" name="Rectangle 9">
            <a:extLst>
              <a:ext uri="{FF2B5EF4-FFF2-40B4-BE49-F238E27FC236}">
                <a16:creationId xmlns:a16="http://schemas.microsoft.com/office/drawing/2014/main" id="{0EF45926-8B69-40FB-8AF8-5010A76B6331}"/>
              </a:ext>
            </a:extLst>
          </p:cNvPr>
          <p:cNvSpPr>
            <a:spLocks noGrp="1"/>
          </p:cNvSpPr>
          <p:nvPr/>
        </p:nvSpPr>
        <p:spPr>
          <a:xfrm>
            <a:off x="4171950" y="2409825"/>
            <a:ext cx="1962150" cy="466725"/>
          </a:xfrm>
          <a:prstGeom prst="rect">
            <a:avLst/>
          </a:prstGeom>
          <a:noFill/>
          <a:ln w="0">
            <a:noFill/>
          </a:ln>
        </p:spPr>
        <p:txBody>
          <a:bodyPr wrap="square" lIns="0" tIns="0" rIns="0" bIns="0" anchor="t">
            <a:normAutofit/>
          </a:bodyPr>
          <a:lstStyle/>
          <a:p>
            <a:pPr algn="l">
              <a:defRPr sz="1275" b="0">
                <a:solidFill>
                  <a:srgbClr val="5F7182"/>
                </a:solidFill>
                <a:latin typeface="DejaVu Sans"/>
                <a:ea typeface="DejaVu Sans"/>
                <a:cs typeface="DejaVu Sans"/>
              </a:defRPr>
            </a:pPr>
            <a:r>
              <a:rPr sz="1275" b="0">
                <a:solidFill>
                  <a:srgbClr val="5F7182"/>
                </a:solidFill>
                <a:latin typeface="DejaVu Sans"/>
                <a:ea typeface="DejaVu Sans"/>
                <a:cs typeface="DejaVu Sans"/>
              </a:rPr>
              <a:t>10 MW, HE17–22</a:t>
            </a:r>
          </a:p>
        </p:txBody>
      </p:sp>
      <p:cxnSp>
        <p:nvCxnSpPr>
          <p:cNvPr id="53" name="Straight Arrow Connector 52"/>
          <p:cNvCxnSpPr>
            <a:stCxn id="5" idx="3"/>
            <a:endCxn id="8" idx="1"/>
          </p:cNvCxnSpPr>
          <p:nvPr/>
        </p:nvCxnSpPr>
        <p:spPr>
          <a:xfrm>
            <a:off x="2876550" y="2514600"/>
            <a:ext cx="1181100" cy="0"/>
          </a:xfrm>
          <a:prstGeom prst="straightConnector1">
            <a:avLst/>
          </a:prstGeom>
          <a:ln w="28575">
            <a:solidFill>
              <a:srgbClr val="12355B"/>
            </a:solidFill>
            <a:prstDash val="solid"/>
            <a:headEnd type="none" w="med" len="med"/>
            <a:tailEnd type="triangle" w="sm" len="sm"/>
          </a:ln>
        </p:spPr>
      </p:cxnSp>
      <p:sp>
        <p:nvSpPr>
          <p:cNvPr id="12" name="Rectangle 11">
            <a:extLst>
              <a:ext uri="{FF2B5EF4-FFF2-40B4-BE49-F238E27FC236}">
                <a16:creationId xmlns:a16="http://schemas.microsoft.com/office/drawing/2014/main" id="{19E9850E-1B04-4973-B712-A04A9B4A2DEE}"/>
              </a:ext>
            </a:extLst>
          </p:cNvPr>
          <p:cNvSpPr>
            <a:spLocks noGrp="1"/>
          </p:cNvSpPr>
          <p:nvPr/>
        </p:nvSpPr>
        <p:spPr>
          <a:xfrm>
            <a:off x="2781300" y="1943100"/>
            <a:ext cx="1428750" cy="419100"/>
          </a:xfrm>
          <a:prstGeom prst="rect">
            <a:avLst/>
          </a:prstGeom>
          <a:noFill/>
          <a:ln w="0">
            <a:noFill/>
          </a:ln>
        </p:spPr>
        <p:txBody>
          <a:bodyPr wrap="square" lIns="0" tIns="0" rIns="0" bIns="0" anchor="t">
            <a:normAutofit/>
          </a:bodyPr>
          <a:lstStyle/>
          <a:p>
            <a:pPr algn="ctr">
              <a:defRPr sz="1050" b="1">
                <a:solidFill>
                  <a:srgbClr val="12355B"/>
                </a:solidFill>
                <a:latin typeface="DejaVu Sans"/>
                <a:ea typeface="DejaVu Sans"/>
                <a:cs typeface="DejaVu Sans"/>
              </a:defRPr>
            </a:pPr>
            <a:r>
              <a:rPr sz="1050" b="1">
                <a:solidFill>
                  <a:srgbClr val="12355B"/>
                </a:solidFill>
                <a:latin typeface="DejaVu Sans"/>
                <a:ea typeface="DejaVu Sans"/>
                <a:cs typeface="DejaVu Sans"/>
              </a:rPr>
              <a:t>Matched schedule: 10 MW, HE17–22</a:t>
            </a:r>
          </a:p>
        </p:txBody>
      </p:sp>
      <p:sp>
        <p:nvSpPr>
          <p:cNvPr id="13" name="Rectangle: Rounded Corners 12">
            <a:extLst>
              <a:ext uri="{FF2B5EF4-FFF2-40B4-BE49-F238E27FC236}">
                <a16:creationId xmlns:a16="http://schemas.microsoft.com/office/drawing/2014/main" id="{1EE9FB1D-CD62-4D93-A656-659DEA47F9A5}"/>
              </a:ext>
            </a:extLst>
          </p:cNvPr>
          <p:cNvSpPr>
            <a:spLocks noGrp="1"/>
          </p:cNvSpPr>
          <p:nvPr/>
        </p:nvSpPr>
        <p:spPr>
          <a:xfrm>
            <a:off x="1809750" y="3362325"/>
            <a:ext cx="3333750" cy="666750"/>
          </a:xfrm>
          <a:prstGeom prst="roundRect">
            <a:avLst>
              <a:gd name="adj" fmla="val 14286"/>
            </a:avLst>
          </a:prstGeom>
          <a:solidFill>
            <a:srgbClr val="FBEEE1"/>
          </a:solidFill>
          <a:ln w="9525">
            <a:solidFill>
              <a:srgbClr val="C96B10"/>
            </a:solidFill>
            <a:prstDash val="solid"/>
          </a:ln>
        </p:spPr>
        <p:txBody>
          <a:bodyPr/>
          <a:lstStyle/>
          <a:p>
            <a:endParaRPr lang="en-CA"/>
          </a:p>
        </p:txBody>
      </p:sp>
      <p:sp>
        <p:nvSpPr>
          <p:cNvPr id="14" name="Rectangle 13">
            <a:extLst>
              <a:ext uri="{FF2B5EF4-FFF2-40B4-BE49-F238E27FC236}">
                <a16:creationId xmlns:a16="http://schemas.microsoft.com/office/drawing/2014/main" id="{00C8EE1F-9DAC-40CE-8FF9-F6039B736452}"/>
              </a:ext>
            </a:extLst>
          </p:cNvPr>
          <p:cNvSpPr>
            <a:spLocks noGrp="1"/>
          </p:cNvSpPr>
          <p:nvPr/>
        </p:nvSpPr>
        <p:spPr>
          <a:xfrm>
            <a:off x="1924050" y="3457575"/>
            <a:ext cx="3105150" cy="238125"/>
          </a:xfrm>
          <a:prstGeom prst="rect">
            <a:avLst/>
          </a:prstGeom>
          <a:noFill/>
          <a:ln w="0">
            <a:noFill/>
          </a:ln>
        </p:spPr>
        <p:txBody>
          <a:bodyPr wrap="square" lIns="0" tIns="0" rIns="0" bIns="0" anchor="ctr">
            <a:normAutofit fontScale="88571"/>
          </a:bodyPr>
          <a:lstStyle/>
          <a:p>
            <a:pPr algn="ctr">
              <a:defRPr sz="1425" b="1">
                <a:solidFill>
                  <a:srgbClr val="15283B"/>
                </a:solidFill>
                <a:latin typeface="DejaVu Sans"/>
                <a:ea typeface="DejaVu Sans"/>
                <a:cs typeface="DejaVu Sans"/>
              </a:defRPr>
            </a:pPr>
            <a:r>
              <a:rPr sz="1425" b="1">
                <a:solidFill>
                  <a:srgbClr val="15283B"/>
                </a:solidFill>
                <a:latin typeface="DejaVu Sans"/>
                <a:ea typeface="DejaVu Sans"/>
                <a:cs typeface="DejaVu Sans"/>
              </a:rPr>
              <a:t>Derived transmission requirement</a:t>
            </a:r>
          </a:p>
        </p:txBody>
      </p:sp>
      <p:sp>
        <p:nvSpPr>
          <p:cNvPr id="15" name="Rectangle 14">
            <a:extLst>
              <a:ext uri="{FF2B5EF4-FFF2-40B4-BE49-F238E27FC236}">
                <a16:creationId xmlns:a16="http://schemas.microsoft.com/office/drawing/2014/main" id="{49BD47D5-C7F8-406F-80BF-30D25667F5D6}"/>
              </a:ext>
            </a:extLst>
          </p:cNvPr>
          <p:cNvSpPr>
            <a:spLocks noGrp="1"/>
          </p:cNvSpPr>
          <p:nvPr/>
        </p:nvSpPr>
        <p:spPr>
          <a:xfrm>
            <a:off x="1924050" y="3695700"/>
            <a:ext cx="3105150" cy="257175"/>
          </a:xfrm>
          <a:prstGeom prst="rect">
            <a:avLst/>
          </a:prstGeom>
          <a:noFill/>
          <a:ln w="0">
            <a:noFill/>
          </a:ln>
        </p:spPr>
        <p:txBody>
          <a:bodyPr wrap="square" lIns="0" tIns="0" rIns="0" bIns="0" anchor="t">
            <a:normAutofit/>
          </a:bodyPr>
          <a:lstStyle/>
          <a:p>
            <a:pPr algn="ctr">
              <a:defRPr sz="1200" b="0">
                <a:solidFill>
                  <a:srgbClr val="5F7182"/>
                </a:solidFill>
                <a:latin typeface="DejaVu Sans"/>
                <a:ea typeface="DejaVu Sans"/>
                <a:cs typeface="DejaVu Sans"/>
              </a:defRPr>
            </a:pPr>
            <a:r>
              <a:rPr sz="1200" b="0">
                <a:solidFill>
                  <a:srgbClr val="5F7182"/>
                </a:solidFill>
                <a:latin typeface="DejaVu Sans"/>
                <a:ea typeface="DejaVu Sans"/>
                <a:cs typeface="DejaVu Sans"/>
              </a:rPr>
              <a:t>Point P to Point S, 10 MW, HE17–22</a:t>
            </a:r>
          </a:p>
        </p:txBody>
      </p:sp>
      <p:cxnSp>
        <p:nvCxnSpPr>
          <p:cNvPr id="58" name="Connector: Elbow 57"/>
          <p:cNvCxnSpPr>
            <a:stCxn id="5" idx="2"/>
            <a:endCxn id="13" idx="0"/>
          </p:cNvCxnSpPr>
          <p:nvPr/>
        </p:nvCxnSpPr>
        <p:spPr>
          <a:xfrm>
            <a:off x="1781175" y="2952750"/>
            <a:ext cx="1695450" cy="409575"/>
          </a:xfrm>
          <a:prstGeom prst="bentConnector4">
            <a:avLst>
              <a:gd name="adj1" fmla="val 0"/>
              <a:gd name="adj2" fmla="val 50000"/>
            </a:avLst>
          </a:prstGeom>
          <a:ln w="19050">
            <a:solidFill>
              <a:srgbClr val="C96B10"/>
            </a:solidFill>
            <a:prstDash val="solid"/>
            <a:headEnd type="none" w="med" len="med"/>
            <a:tailEnd type="triangle" w="sm" len="sm"/>
          </a:ln>
        </p:spPr>
      </p:cxnSp>
      <p:cxnSp>
        <p:nvCxnSpPr>
          <p:cNvPr id="59" name="Connector: Elbow 58"/>
          <p:cNvCxnSpPr>
            <a:stCxn id="8" idx="2"/>
            <a:endCxn id="13" idx="0"/>
          </p:cNvCxnSpPr>
          <p:nvPr/>
        </p:nvCxnSpPr>
        <p:spPr>
          <a:xfrm flipH="1">
            <a:off x="3476625" y="2952750"/>
            <a:ext cx="1676400" cy="409575"/>
          </a:xfrm>
          <a:prstGeom prst="bentConnector4">
            <a:avLst>
              <a:gd name="adj1" fmla="val 0"/>
              <a:gd name="adj2" fmla="val 50000"/>
            </a:avLst>
          </a:prstGeom>
          <a:ln w="19050">
            <a:solidFill>
              <a:srgbClr val="C96B10"/>
            </a:solidFill>
            <a:prstDash val="solid"/>
            <a:headEnd type="none" w="med" len="med"/>
            <a:tailEnd type="triangle" w="sm" len="sm"/>
          </a:ln>
        </p:spPr>
      </p:cxnSp>
      <p:sp>
        <p:nvSpPr>
          <p:cNvPr id="18" name="Straight Connector 17">
            <a:extLst>
              <a:ext uri="{FF2B5EF4-FFF2-40B4-BE49-F238E27FC236}">
                <a16:creationId xmlns:a16="http://schemas.microsoft.com/office/drawing/2014/main" id="{6B0A6270-2232-45BD-9362-D339243CF132}"/>
              </a:ext>
            </a:extLst>
          </p:cNvPr>
          <p:cNvSpPr>
            <a:spLocks noGrp="1"/>
          </p:cNvSpPr>
          <p:nvPr/>
        </p:nvSpPr>
        <p:spPr>
          <a:xfrm>
            <a:off x="6705600" y="1504950"/>
            <a:ext cx="0" cy="4343400"/>
          </a:xfrm>
          <a:prstGeom prst="line">
            <a:avLst/>
          </a:prstGeom>
          <a:noFill/>
          <a:ln w="9525">
            <a:solidFill>
              <a:srgbClr val="E3E9EF"/>
            </a:solidFill>
            <a:prstDash val="solid"/>
          </a:ln>
        </p:spPr>
        <p:txBody>
          <a:bodyPr/>
          <a:lstStyle/>
          <a:p>
            <a:endParaRPr lang="en-CA"/>
          </a:p>
        </p:txBody>
      </p:sp>
      <p:sp>
        <p:nvSpPr>
          <p:cNvPr id="19" name="Rectangle 18">
            <a:extLst>
              <a:ext uri="{FF2B5EF4-FFF2-40B4-BE49-F238E27FC236}">
                <a16:creationId xmlns:a16="http://schemas.microsoft.com/office/drawing/2014/main" id="{5B3F22CC-6D94-4422-AAEF-020879FAF71C}"/>
              </a:ext>
            </a:extLst>
          </p:cNvPr>
          <p:cNvSpPr>
            <a:spLocks noGrp="1"/>
          </p:cNvSpPr>
          <p:nvPr/>
        </p:nvSpPr>
        <p:spPr>
          <a:xfrm>
            <a:off x="7105650" y="1476375"/>
            <a:ext cx="4400550" cy="266700"/>
          </a:xfrm>
          <a:prstGeom prst="rect">
            <a:avLst/>
          </a:prstGeom>
          <a:noFill/>
          <a:ln w="0">
            <a:noFill/>
          </a:ln>
        </p:spPr>
        <p:txBody>
          <a:bodyPr wrap="square" lIns="0" tIns="0" rIns="0" bIns="0" anchor="t">
            <a:normAutofit/>
          </a:bodyPr>
          <a:lstStyle/>
          <a:p>
            <a:pPr algn="l">
              <a:defRPr sz="1275" b="1">
                <a:solidFill>
                  <a:srgbClr val="5F7182"/>
                </a:solidFill>
                <a:latin typeface="DejaVu Sans"/>
                <a:ea typeface="DejaVu Sans"/>
                <a:cs typeface="DejaVu Sans"/>
              </a:defRPr>
            </a:pPr>
            <a:r>
              <a:rPr sz="1275" b="1">
                <a:solidFill>
                  <a:srgbClr val="5F7182"/>
                </a:solidFill>
                <a:latin typeface="DejaVu Sans"/>
                <a:ea typeface="DejaVu Sans"/>
                <a:cs typeface="DejaVu Sans"/>
              </a:rPr>
              <a:t>SPLIT ALLOCATION</a:t>
            </a:r>
          </a:p>
        </p:txBody>
      </p:sp>
      <p:sp>
        <p:nvSpPr>
          <p:cNvPr id="20" name="Rectangle: Rounded Corners 19">
            <a:extLst>
              <a:ext uri="{FF2B5EF4-FFF2-40B4-BE49-F238E27FC236}">
                <a16:creationId xmlns:a16="http://schemas.microsoft.com/office/drawing/2014/main" id="{71291844-673C-437E-8E3B-7C38A7B57AA7}"/>
              </a:ext>
            </a:extLst>
          </p:cNvPr>
          <p:cNvSpPr>
            <a:spLocks noGrp="1"/>
          </p:cNvSpPr>
          <p:nvPr/>
        </p:nvSpPr>
        <p:spPr>
          <a:xfrm>
            <a:off x="7105650" y="2095500"/>
            <a:ext cx="1924050" cy="952500"/>
          </a:xfrm>
          <a:prstGeom prst="roundRect">
            <a:avLst>
              <a:gd name="adj" fmla="val 10000"/>
            </a:avLst>
          </a:prstGeom>
          <a:solidFill>
            <a:srgbClr val="E7F0FA"/>
          </a:solidFill>
          <a:ln w="9525">
            <a:solidFill>
              <a:srgbClr val="2B6CB0"/>
            </a:solidFill>
            <a:prstDash val="solid"/>
          </a:ln>
        </p:spPr>
        <p:txBody>
          <a:bodyPr/>
          <a:lstStyle/>
          <a:p>
            <a:endParaRPr lang="en-CA"/>
          </a:p>
        </p:txBody>
      </p:sp>
      <p:sp>
        <p:nvSpPr>
          <p:cNvPr id="21" name="Rectangle 20">
            <a:extLst>
              <a:ext uri="{FF2B5EF4-FFF2-40B4-BE49-F238E27FC236}">
                <a16:creationId xmlns:a16="http://schemas.microsoft.com/office/drawing/2014/main" id="{D9156E9B-04FC-47E0-940B-A328C7874E11}"/>
              </a:ext>
            </a:extLst>
          </p:cNvPr>
          <p:cNvSpPr>
            <a:spLocks noGrp="1"/>
          </p:cNvSpPr>
          <p:nvPr/>
        </p:nvSpPr>
        <p:spPr>
          <a:xfrm>
            <a:off x="7219950" y="2190750"/>
            <a:ext cx="1695450" cy="238125"/>
          </a:xfrm>
          <a:prstGeom prst="rect">
            <a:avLst/>
          </a:prstGeom>
          <a:noFill/>
          <a:ln w="0">
            <a:noFill/>
          </a:ln>
        </p:spPr>
        <p:txBody>
          <a:bodyPr wrap="square" lIns="0" tIns="0" rIns="0" bIns="0" anchor="ctr">
            <a:normAutofit fontScale="90580"/>
          </a:bodyPr>
          <a:lstStyle/>
          <a:p>
            <a:pPr algn="l">
              <a:defRPr sz="1725" b="1">
                <a:solidFill>
                  <a:srgbClr val="15283B"/>
                </a:solidFill>
                <a:latin typeface="DejaVu Sans"/>
                <a:ea typeface="DejaVu Sans"/>
                <a:cs typeface="DejaVu Sans"/>
              </a:defRPr>
            </a:pPr>
            <a:r>
              <a:rPr sz="1725" b="1">
                <a:solidFill>
                  <a:srgbClr val="15283B"/>
                </a:solidFill>
                <a:latin typeface="DejaVu Sans"/>
                <a:ea typeface="DejaVu Sans"/>
                <a:cs typeface="DejaVu Sans"/>
              </a:rPr>
              <a:t>Buy C</a:t>
            </a:r>
          </a:p>
        </p:txBody>
      </p:sp>
      <p:sp>
        <p:nvSpPr>
          <p:cNvPr id="22" name="Rectangle 21">
            <a:extLst>
              <a:ext uri="{FF2B5EF4-FFF2-40B4-BE49-F238E27FC236}">
                <a16:creationId xmlns:a16="http://schemas.microsoft.com/office/drawing/2014/main" id="{93793D8A-E09B-441E-90E6-11E7B78FA7CD}"/>
              </a:ext>
            </a:extLst>
          </p:cNvPr>
          <p:cNvSpPr>
            <a:spLocks noGrp="1"/>
          </p:cNvSpPr>
          <p:nvPr/>
        </p:nvSpPr>
        <p:spPr>
          <a:xfrm>
            <a:off x="7219950" y="2428875"/>
            <a:ext cx="1695450" cy="542925"/>
          </a:xfrm>
          <a:prstGeom prst="rect">
            <a:avLst/>
          </a:prstGeom>
          <a:noFill/>
          <a:ln w="0">
            <a:noFill/>
          </a:ln>
        </p:spPr>
        <p:txBody>
          <a:bodyPr wrap="square" lIns="0" tIns="0" rIns="0" bIns="0" anchor="t">
            <a:normAutofit/>
          </a:bodyPr>
          <a:lstStyle/>
          <a:p>
            <a:pPr algn="l">
              <a:defRPr sz="1200" b="0">
                <a:solidFill>
                  <a:srgbClr val="5F7182"/>
                </a:solidFill>
                <a:latin typeface="DejaVu Sans"/>
                <a:ea typeface="DejaVu Sans"/>
                <a:cs typeface="DejaVu Sans"/>
              </a:defRPr>
            </a:pPr>
            <a:r>
              <a:rPr sz="1200" b="0">
                <a:solidFill>
                  <a:srgbClr val="5F7182"/>
                </a:solidFill>
                <a:latin typeface="DejaVu Sans"/>
                <a:ea typeface="DejaVu Sans"/>
                <a:cs typeface="DejaVu Sans"/>
              </a:rPr>
              <a:t>Source quantity split by MW and hour</a:t>
            </a:r>
          </a:p>
        </p:txBody>
      </p:sp>
      <p:sp>
        <p:nvSpPr>
          <p:cNvPr id="23" name="Rectangle: Rounded Corners 22">
            <a:extLst>
              <a:ext uri="{FF2B5EF4-FFF2-40B4-BE49-F238E27FC236}">
                <a16:creationId xmlns:a16="http://schemas.microsoft.com/office/drawing/2014/main" id="{43776044-AEEA-48F9-894F-9D2CBF9F18AC}"/>
              </a:ext>
            </a:extLst>
          </p:cNvPr>
          <p:cNvSpPr>
            <a:spLocks noGrp="1"/>
          </p:cNvSpPr>
          <p:nvPr/>
        </p:nvSpPr>
        <p:spPr>
          <a:xfrm>
            <a:off x="9620250" y="1771650"/>
            <a:ext cx="1866900" cy="666750"/>
          </a:xfrm>
          <a:prstGeom prst="roundRect">
            <a:avLst>
              <a:gd name="adj" fmla="val 14286"/>
            </a:avLst>
          </a:prstGeom>
          <a:solidFill>
            <a:srgbClr val="E7F3ED"/>
          </a:solidFill>
          <a:ln w="9525">
            <a:solidFill>
              <a:srgbClr val="2E7D5B"/>
            </a:solidFill>
            <a:prstDash val="solid"/>
          </a:ln>
        </p:spPr>
        <p:txBody>
          <a:bodyPr/>
          <a:lstStyle/>
          <a:p>
            <a:endParaRPr lang="en-CA"/>
          </a:p>
        </p:txBody>
      </p:sp>
      <p:sp>
        <p:nvSpPr>
          <p:cNvPr id="24" name="Rectangle 23">
            <a:extLst>
              <a:ext uri="{FF2B5EF4-FFF2-40B4-BE49-F238E27FC236}">
                <a16:creationId xmlns:a16="http://schemas.microsoft.com/office/drawing/2014/main" id="{E243DF29-8D0C-4809-A455-D2400A843BA1}"/>
              </a:ext>
            </a:extLst>
          </p:cNvPr>
          <p:cNvSpPr>
            <a:spLocks noGrp="1"/>
          </p:cNvSpPr>
          <p:nvPr/>
        </p:nvSpPr>
        <p:spPr>
          <a:xfrm>
            <a:off x="9734550" y="1866900"/>
            <a:ext cx="16383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Sell D</a:t>
            </a:r>
          </a:p>
        </p:txBody>
      </p:sp>
      <p:sp>
        <p:nvSpPr>
          <p:cNvPr id="25" name="Rectangle 24">
            <a:extLst>
              <a:ext uri="{FF2B5EF4-FFF2-40B4-BE49-F238E27FC236}">
                <a16:creationId xmlns:a16="http://schemas.microsoft.com/office/drawing/2014/main" id="{13FF170B-4AAB-458D-A7A9-84AB5EFB5805}"/>
              </a:ext>
            </a:extLst>
          </p:cNvPr>
          <p:cNvSpPr>
            <a:spLocks noGrp="1"/>
          </p:cNvSpPr>
          <p:nvPr/>
        </p:nvSpPr>
        <p:spPr>
          <a:xfrm>
            <a:off x="9734550" y="2105025"/>
            <a:ext cx="1638300" cy="2571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Allocated block 1</a:t>
            </a:r>
          </a:p>
        </p:txBody>
      </p:sp>
      <p:sp>
        <p:nvSpPr>
          <p:cNvPr id="26" name="Rectangle: Rounded Corners 25">
            <a:extLst>
              <a:ext uri="{FF2B5EF4-FFF2-40B4-BE49-F238E27FC236}">
                <a16:creationId xmlns:a16="http://schemas.microsoft.com/office/drawing/2014/main" id="{A90467FB-F039-4704-9655-ADF6D25DB05B}"/>
              </a:ext>
            </a:extLst>
          </p:cNvPr>
          <p:cNvSpPr>
            <a:spLocks noGrp="1"/>
          </p:cNvSpPr>
          <p:nvPr/>
        </p:nvSpPr>
        <p:spPr>
          <a:xfrm>
            <a:off x="9620250" y="2686050"/>
            <a:ext cx="1866900" cy="666750"/>
          </a:xfrm>
          <a:prstGeom prst="roundRect">
            <a:avLst>
              <a:gd name="adj" fmla="val 14286"/>
            </a:avLst>
          </a:prstGeom>
          <a:solidFill>
            <a:srgbClr val="E7F3ED"/>
          </a:solidFill>
          <a:ln w="9525">
            <a:solidFill>
              <a:srgbClr val="2E7D5B"/>
            </a:solidFill>
            <a:prstDash val="solid"/>
          </a:ln>
        </p:spPr>
        <p:txBody>
          <a:bodyPr/>
          <a:lstStyle/>
          <a:p>
            <a:endParaRPr lang="en-CA"/>
          </a:p>
        </p:txBody>
      </p:sp>
      <p:sp>
        <p:nvSpPr>
          <p:cNvPr id="27" name="Rectangle 26">
            <a:extLst>
              <a:ext uri="{FF2B5EF4-FFF2-40B4-BE49-F238E27FC236}">
                <a16:creationId xmlns:a16="http://schemas.microsoft.com/office/drawing/2014/main" id="{EEACF975-9073-487C-B7E2-95752B1070C2}"/>
              </a:ext>
            </a:extLst>
          </p:cNvPr>
          <p:cNvSpPr>
            <a:spLocks noGrp="1"/>
          </p:cNvSpPr>
          <p:nvPr/>
        </p:nvSpPr>
        <p:spPr>
          <a:xfrm>
            <a:off x="9734550" y="2781300"/>
            <a:ext cx="16383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Sell E</a:t>
            </a:r>
          </a:p>
        </p:txBody>
      </p:sp>
      <p:sp>
        <p:nvSpPr>
          <p:cNvPr id="28" name="Rectangle 27">
            <a:extLst>
              <a:ext uri="{FF2B5EF4-FFF2-40B4-BE49-F238E27FC236}">
                <a16:creationId xmlns:a16="http://schemas.microsoft.com/office/drawing/2014/main" id="{02A56574-B48C-426E-B28E-2E337D474A78}"/>
              </a:ext>
            </a:extLst>
          </p:cNvPr>
          <p:cNvSpPr>
            <a:spLocks noGrp="1"/>
          </p:cNvSpPr>
          <p:nvPr/>
        </p:nvSpPr>
        <p:spPr>
          <a:xfrm>
            <a:off x="9734550" y="3019425"/>
            <a:ext cx="1638300" cy="2571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Allocated block 2</a:t>
            </a:r>
          </a:p>
        </p:txBody>
      </p:sp>
      <p:sp>
        <p:nvSpPr>
          <p:cNvPr id="29" name="Rectangle: Rounded Corners 28">
            <a:extLst>
              <a:ext uri="{FF2B5EF4-FFF2-40B4-BE49-F238E27FC236}">
                <a16:creationId xmlns:a16="http://schemas.microsoft.com/office/drawing/2014/main" id="{B09A0A15-F28E-4CC2-A55F-02A70FF7D437}"/>
              </a:ext>
            </a:extLst>
          </p:cNvPr>
          <p:cNvSpPr>
            <a:spLocks noGrp="1"/>
          </p:cNvSpPr>
          <p:nvPr/>
        </p:nvSpPr>
        <p:spPr>
          <a:xfrm>
            <a:off x="9620250" y="3600450"/>
            <a:ext cx="1866900" cy="666750"/>
          </a:xfrm>
          <a:prstGeom prst="roundRect">
            <a:avLst>
              <a:gd name="adj" fmla="val 14286"/>
            </a:avLst>
          </a:prstGeom>
          <a:solidFill>
            <a:srgbClr val="E7F3ED"/>
          </a:solidFill>
          <a:ln w="9525">
            <a:solidFill>
              <a:srgbClr val="2E7D5B"/>
            </a:solidFill>
            <a:prstDash val="solid"/>
          </a:ln>
        </p:spPr>
        <p:txBody>
          <a:bodyPr/>
          <a:lstStyle/>
          <a:p>
            <a:endParaRPr lang="en-CA"/>
          </a:p>
        </p:txBody>
      </p:sp>
      <p:sp>
        <p:nvSpPr>
          <p:cNvPr id="30" name="Rectangle 29">
            <a:extLst>
              <a:ext uri="{FF2B5EF4-FFF2-40B4-BE49-F238E27FC236}">
                <a16:creationId xmlns:a16="http://schemas.microsoft.com/office/drawing/2014/main" id="{7F86CC95-BA86-4947-A0A4-AF08ED1F13C2}"/>
              </a:ext>
            </a:extLst>
          </p:cNvPr>
          <p:cNvSpPr>
            <a:spLocks noGrp="1"/>
          </p:cNvSpPr>
          <p:nvPr/>
        </p:nvSpPr>
        <p:spPr>
          <a:xfrm>
            <a:off x="9734550" y="3695700"/>
            <a:ext cx="16383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Sell F</a:t>
            </a:r>
          </a:p>
        </p:txBody>
      </p:sp>
      <p:sp>
        <p:nvSpPr>
          <p:cNvPr id="31" name="Rectangle 30">
            <a:extLst>
              <a:ext uri="{FF2B5EF4-FFF2-40B4-BE49-F238E27FC236}">
                <a16:creationId xmlns:a16="http://schemas.microsoft.com/office/drawing/2014/main" id="{FCB197EF-2D4E-4A98-8972-4BC9E6B051DF}"/>
              </a:ext>
            </a:extLst>
          </p:cNvPr>
          <p:cNvSpPr>
            <a:spLocks noGrp="1"/>
          </p:cNvSpPr>
          <p:nvPr/>
        </p:nvSpPr>
        <p:spPr>
          <a:xfrm>
            <a:off x="9734550" y="3933825"/>
            <a:ext cx="1638300" cy="257175"/>
          </a:xfrm>
          <a:prstGeom prst="rect">
            <a:avLst/>
          </a:prstGeom>
          <a:noFill/>
          <a:ln w="0">
            <a:noFill/>
          </a:ln>
        </p:spPr>
        <p:txBody>
          <a:bodyPr wrap="square" lIns="0" tIns="0" rIns="0" bIns="0" anchor="t">
            <a:normAutofit/>
          </a:bodyPr>
          <a:lstStyle/>
          <a:p>
            <a:pPr algn="l">
              <a:defRPr sz="1088" b="0">
                <a:solidFill>
                  <a:srgbClr val="5F7182"/>
                </a:solidFill>
                <a:latin typeface="DejaVu Sans"/>
                <a:ea typeface="DejaVu Sans"/>
                <a:cs typeface="DejaVu Sans"/>
              </a:defRPr>
            </a:pPr>
            <a:r>
              <a:rPr sz="1088" b="0">
                <a:solidFill>
                  <a:srgbClr val="5F7182"/>
                </a:solidFill>
                <a:latin typeface="DejaVu Sans"/>
                <a:ea typeface="DejaVu Sans"/>
                <a:cs typeface="DejaVu Sans"/>
              </a:rPr>
              <a:t>Allocated block 3</a:t>
            </a:r>
          </a:p>
        </p:txBody>
      </p:sp>
      <p:cxnSp>
        <p:nvCxnSpPr>
          <p:cNvPr id="74" name="Connector: Elbow 73"/>
          <p:cNvCxnSpPr>
            <a:stCxn id="20" idx="3"/>
            <a:endCxn id="23" idx="1"/>
          </p:cNvCxnSpPr>
          <p:nvPr/>
        </p:nvCxnSpPr>
        <p:spPr>
          <a:xfrm flipV="1">
            <a:off x="9029700" y="2105025"/>
            <a:ext cx="590550" cy="466725"/>
          </a:xfrm>
          <a:prstGeom prst="bentConnector3">
            <a:avLst>
              <a:gd name="adj1" fmla="val 50000"/>
            </a:avLst>
          </a:prstGeom>
          <a:ln w="19050">
            <a:solidFill>
              <a:srgbClr val="12355B"/>
            </a:solidFill>
            <a:prstDash val="solid"/>
            <a:headEnd type="none" w="med" len="med"/>
            <a:tailEnd type="triangle" w="sm" len="sm"/>
          </a:ln>
        </p:spPr>
      </p:cxnSp>
      <p:cxnSp>
        <p:nvCxnSpPr>
          <p:cNvPr id="75" name="Connector: Elbow 74"/>
          <p:cNvCxnSpPr>
            <a:stCxn id="20" idx="3"/>
            <a:endCxn id="26" idx="1"/>
          </p:cNvCxnSpPr>
          <p:nvPr/>
        </p:nvCxnSpPr>
        <p:spPr>
          <a:xfrm>
            <a:off x="9029700" y="2571750"/>
            <a:ext cx="590550" cy="447675"/>
          </a:xfrm>
          <a:prstGeom prst="bentConnector3">
            <a:avLst>
              <a:gd name="adj1" fmla="val 50000"/>
            </a:avLst>
          </a:prstGeom>
          <a:ln w="19050">
            <a:solidFill>
              <a:srgbClr val="12355B"/>
            </a:solidFill>
            <a:prstDash val="solid"/>
            <a:headEnd type="none" w="med" len="med"/>
            <a:tailEnd type="triangle" w="sm" len="sm"/>
          </a:ln>
        </p:spPr>
      </p:cxnSp>
      <p:cxnSp>
        <p:nvCxnSpPr>
          <p:cNvPr id="76" name="Connector: Elbow 75"/>
          <p:cNvCxnSpPr>
            <a:stCxn id="20" idx="3"/>
            <a:endCxn id="29" idx="1"/>
          </p:cNvCxnSpPr>
          <p:nvPr/>
        </p:nvCxnSpPr>
        <p:spPr>
          <a:xfrm>
            <a:off x="9029700" y="2571750"/>
            <a:ext cx="590550" cy="1362075"/>
          </a:xfrm>
          <a:prstGeom prst="bentConnector3">
            <a:avLst>
              <a:gd name="adj1" fmla="val 50000"/>
            </a:avLst>
          </a:prstGeom>
          <a:ln w="19050">
            <a:solidFill>
              <a:srgbClr val="12355B"/>
            </a:solidFill>
            <a:prstDash val="solid"/>
            <a:headEnd type="none" w="med" len="med"/>
            <a:tailEnd type="triangle" w="sm" len="sm"/>
          </a:ln>
        </p:spPr>
      </p:cxnSp>
      <p:sp>
        <p:nvSpPr>
          <p:cNvPr id="35" name="Rectangle: Rounded Corners 34">
            <a:extLst>
              <a:ext uri="{FF2B5EF4-FFF2-40B4-BE49-F238E27FC236}">
                <a16:creationId xmlns:a16="http://schemas.microsoft.com/office/drawing/2014/main" id="{3A4807FF-09BA-4B69-9C82-D6C627053915}"/>
              </a:ext>
            </a:extLst>
          </p:cNvPr>
          <p:cNvSpPr>
            <a:spLocks noGrp="1"/>
          </p:cNvSpPr>
          <p:nvPr/>
        </p:nvSpPr>
        <p:spPr>
          <a:xfrm>
            <a:off x="7353300" y="4676775"/>
            <a:ext cx="3905250" cy="762000"/>
          </a:xfrm>
          <a:prstGeom prst="roundRect">
            <a:avLst>
              <a:gd name="adj" fmla="val 12500"/>
            </a:avLst>
          </a:prstGeom>
          <a:solidFill>
            <a:srgbClr val="FBEAE8"/>
          </a:solidFill>
          <a:ln w="9525">
            <a:solidFill>
              <a:srgbClr val="B42318"/>
            </a:solidFill>
            <a:prstDash val="solid"/>
          </a:ln>
        </p:spPr>
        <p:txBody>
          <a:bodyPr/>
          <a:lstStyle/>
          <a:p>
            <a:endParaRPr lang="en-CA"/>
          </a:p>
        </p:txBody>
      </p:sp>
      <p:sp>
        <p:nvSpPr>
          <p:cNvPr id="36" name="Rectangle 35">
            <a:extLst>
              <a:ext uri="{FF2B5EF4-FFF2-40B4-BE49-F238E27FC236}">
                <a16:creationId xmlns:a16="http://schemas.microsoft.com/office/drawing/2014/main" id="{3DC07BD2-0794-4BF0-B25F-9466DBE2184C}"/>
              </a:ext>
            </a:extLst>
          </p:cNvPr>
          <p:cNvSpPr>
            <a:spLocks noGrp="1"/>
          </p:cNvSpPr>
          <p:nvPr/>
        </p:nvSpPr>
        <p:spPr>
          <a:xfrm>
            <a:off x="7467600" y="4772025"/>
            <a:ext cx="3676650" cy="238125"/>
          </a:xfrm>
          <a:prstGeom prst="rect">
            <a:avLst/>
          </a:prstGeom>
          <a:noFill/>
          <a:ln w="0">
            <a:noFill/>
          </a:ln>
        </p:spPr>
        <p:txBody>
          <a:bodyPr wrap="square" lIns="0" tIns="0" rIns="0" bIns="0" anchor="ctr">
            <a:normAutofit fontScale="95472"/>
          </a:bodyPr>
          <a:lstStyle/>
          <a:p>
            <a:pPr algn="ctr">
              <a:defRPr sz="1500" b="1">
                <a:solidFill>
                  <a:srgbClr val="B42318"/>
                </a:solidFill>
                <a:latin typeface="DejaVu Sans"/>
                <a:ea typeface="DejaVu Sans"/>
                <a:cs typeface="DejaVu Sans"/>
              </a:defRPr>
            </a:pPr>
            <a:r>
              <a:rPr sz="1500" b="1">
                <a:solidFill>
                  <a:srgbClr val="B42318"/>
                </a:solidFill>
                <a:latin typeface="DejaVu Sans"/>
                <a:ea typeface="DejaVu Sans"/>
                <a:cs typeface="DejaVu Sans"/>
              </a:rPr>
              <a:t>Unmatched residual remains visible</a:t>
            </a:r>
          </a:p>
        </p:txBody>
      </p:sp>
      <p:sp>
        <p:nvSpPr>
          <p:cNvPr id="37" name="Rectangle 36">
            <a:extLst>
              <a:ext uri="{FF2B5EF4-FFF2-40B4-BE49-F238E27FC236}">
                <a16:creationId xmlns:a16="http://schemas.microsoft.com/office/drawing/2014/main" id="{DE7A4925-86D0-4655-90EB-F8F21068D601}"/>
              </a:ext>
            </a:extLst>
          </p:cNvPr>
          <p:cNvSpPr>
            <a:spLocks noGrp="1"/>
          </p:cNvSpPr>
          <p:nvPr/>
        </p:nvSpPr>
        <p:spPr>
          <a:xfrm>
            <a:off x="7467600" y="5010150"/>
            <a:ext cx="3676650" cy="352425"/>
          </a:xfrm>
          <a:prstGeom prst="rect">
            <a:avLst/>
          </a:prstGeom>
          <a:noFill/>
          <a:ln w="0">
            <a:noFill/>
          </a:ln>
        </p:spPr>
        <p:txBody>
          <a:bodyPr wrap="square" lIns="0" tIns="0" rIns="0" bIns="0" anchor="t">
            <a:normAutofit fontScale="96354"/>
          </a:bodyPr>
          <a:lstStyle/>
          <a:p>
            <a:pPr algn="ctr">
              <a:defRPr sz="1200" b="0">
                <a:solidFill>
                  <a:srgbClr val="5F7182"/>
                </a:solidFill>
                <a:latin typeface="DejaVu Sans"/>
                <a:ea typeface="DejaVu Sans"/>
                <a:cs typeface="DejaVu Sans"/>
              </a:defRPr>
            </a:pPr>
            <a:r>
              <a:rPr sz="1200" b="0">
                <a:solidFill>
                  <a:srgbClr val="5F7182"/>
                </a:solidFill>
                <a:latin typeface="DejaVu Sans"/>
                <a:ea typeface="DejaVu Sans"/>
                <a:cs typeface="DejaVu Sans"/>
              </a:rPr>
              <a:t>The system carries the remaining MW and hours as an open position for DA or RT</a:t>
            </a:r>
          </a:p>
        </p:txBody>
      </p:sp>
      <p:cxnSp>
        <p:nvCxnSpPr>
          <p:cNvPr id="80" name="Connector: Elbow 79"/>
          <p:cNvCxnSpPr>
            <a:stCxn id="20" idx="2"/>
            <a:endCxn id="35" idx="0"/>
          </p:cNvCxnSpPr>
          <p:nvPr/>
        </p:nvCxnSpPr>
        <p:spPr>
          <a:xfrm>
            <a:off x="8067675" y="3048000"/>
            <a:ext cx="1238250" cy="1628775"/>
          </a:xfrm>
          <a:prstGeom prst="bentConnector4">
            <a:avLst>
              <a:gd name="adj1" fmla="val 0"/>
              <a:gd name="adj2" fmla="val 50000"/>
            </a:avLst>
          </a:prstGeom>
          <a:ln w="19050">
            <a:solidFill>
              <a:srgbClr val="B42318"/>
            </a:solidFill>
            <a:prstDash val="dash"/>
            <a:headEnd type="none" w="med" len="med"/>
            <a:tailEnd type="triangle" w="sm" len="sm"/>
          </a:ln>
        </p:spPr>
      </p:cxnSp>
      <p:sp>
        <p:nvSpPr>
          <p:cNvPr id="39" name="Rectangle 38">
            <a:extLst>
              <a:ext uri="{FF2B5EF4-FFF2-40B4-BE49-F238E27FC236}">
                <a16:creationId xmlns:a16="http://schemas.microsoft.com/office/drawing/2014/main" id="{CA770EC2-0175-4EF5-AF0F-168BA31C3C0A}"/>
              </a:ext>
            </a:extLst>
          </p:cNvPr>
          <p:cNvSpPr>
            <a:spLocks noGrp="1"/>
          </p:cNvSpPr>
          <p:nvPr/>
        </p:nvSpPr>
        <p:spPr>
          <a:xfrm>
            <a:off x="685800" y="4743450"/>
            <a:ext cx="2095500" cy="247650"/>
          </a:xfrm>
          <a:prstGeom prst="rect">
            <a:avLst/>
          </a:prstGeom>
          <a:noFill/>
          <a:ln w="0">
            <a:noFill/>
          </a:ln>
        </p:spPr>
        <p:txBody>
          <a:bodyPr wrap="square" lIns="0" tIns="0" rIns="0" bIns="0" anchor="t">
            <a:normAutofit fontScale="89931"/>
          </a:bodyPr>
          <a:lstStyle/>
          <a:p>
            <a:pPr algn="l">
              <a:defRPr sz="1350" b="1">
                <a:solidFill>
                  <a:srgbClr val="12355B"/>
                </a:solidFill>
                <a:latin typeface="DejaVu Sans"/>
                <a:ea typeface="DejaVu Sans"/>
                <a:cs typeface="DejaVu Sans"/>
              </a:defRPr>
            </a:pPr>
            <a:r>
              <a:rPr sz="1350" b="1">
                <a:solidFill>
                  <a:srgbClr val="12355B"/>
                </a:solidFill>
                <a:latin typeface="DejaVu Sans"/>
                <a:ea typeface="DejaVu Sans"/>
                <a:cs typeface="DejaVu Sans"/>
              </a:rPr>
              <a:t>Required data structure</a:t>
            </a:r>
          </a:p>
        </p:txBody>
      </p:sp>
      <p:sp>
        <p:nvSpPr>
          <p:cNvPr id="40" name="Rectangle 39">
            <a:extLst>
              <a:ext uri="{FF2B5EF4-FFF2-40B4-BE49-F238E27FC236}">
                <a16:creationId xmlns:a16="http://schemas.microsoft.com/office/drawing/2014/main" id="{C6B9D84F-9D02-4281-AB7C-EFD39F72A645}"/>
              </a:ext>
            </a:extLst>
          </p:cNvPr>
          <p:cNvSpPr>
            <a:spLocks noGrp="1"/>
          </p:cNvSpPr>
          <p:nvPr/>
        </p:nvSpPr>
        <p:spPr>
          <a:xfrm>
            <a:off x="685800" y="5105400"/>
            <a:ext cx="5695950" cy="571500"/>
          </a:xfrm>
          <a:prstGeom prst="rect">
            <a:avLst/>
          </a:prstGeom>
          <a:noFill/>
          <a:ln w="0">
            <a:noFill/>
          </a:ln>
        </p:spPr>
        <p:txBody>
          <a:bodyPr wrap="square" lIns="0" tIns="0" rIns="0" bIns="0" anchor="ctr">
            <a:normAutofit/>
          </a:bodyPr>
          <a:lstStyle/>
          <a:p>
            <a:pPr algn="l">
              <a:defRPr sz="1425" b="0">
                <a:solidFill>
                  <a:srgbClr val="15283B"/>
                </a:solidFill>
                <a:latin typeface="DejaVu Sans"/>
                <a:ea typeface="DejaVu Sans"/>
                <a:cs typeface="DejaVu Sans"/>
              </a:defRPr>
            </a:pPr>
            <a:r>
              <a:rPr sz="1425" b="0">
                <a:solidFill>
                  <a:srgbClr val="15283B"/>
                </a:solidFill>
                <a:latin typeface="DejaVu Sans"/>
                <a:ea typeface="DejaVu Sans"/>
                <a:cs typeface="DejaVu Sans"/>
              </a:rPr>
              <a:t>Trade lineage: trade, allocation slices by flow date/hour/MW, schedule, path, transmission and E-Tag</a:t>
            </a:r>
          </a:p>
        </p:txBody>
      </p:sp>
      <p:sp>
        <p:nvSpPr>
          <p:cNvPr id="41" name="Rectangle 40">
            <a:extLst>
              <a:ext uri="{FF2B5EF4-FFF2-40B4-BE49-F238E27FC236}">
                <a16:creationId xmlns:a16="http://schemas.microsoft.com/office/drawing/2014/main" id="{7D4CC2FA-60BB-4E14-B561-89D895F0F61B}"/>
              </a:ext>
            </a:extLst>
          </p:cNvPr>
          <p:cNvSpPr>
            <a:spLocks noGrp="1"/>
          </p:cNvSpPr>
          <p:nvPr/>
        </p:nvSpPr>
        <p:spPr>
          <a:xfrm>
            <a:off x="685800" y="6000750"/>
            <a:ext cx="10668000" cy="323850"/>
          </a:xfrm>
          <a:prstGeom prst="rect">
            <a:avLst/>
          </a:prstGeom>
          <a:noFill/>
          <a:ln w="0">
            <a:noFill/>
          </a:ln>
        </p:spPr>
        <p:txBody>
          <a:bodyPr wrap="square" lIns="0" tIns="0" rIns="0" bIns="0" anchor="t">
            <a:normAutofit/>
          </a:bodyPr>
          <a:lstStyle/>
          <a:p>
            <a:pPr algn="ctr">
              <a:defRPr sz="1575" b="1">
                <a:solidFill>
                  <a:srgbClr val="12355B"/>
                </a:solidFill>
                <a:latin typeface="DejaVu Sans"/>
                <a:ea typeface="DejaVu Sans"/>
                <a:cs typeface="DejaVu Sans"/>
              </a:defRPr>
            </a:pPr>
            <a:r>
              <a:rPr sz="1575" b="1">
                <a:solidFill>
                  <a:srgbClr val="12355B"/>
                </a:solidFill>
                <a:latin typeface="DejaVu Sans"/>
                <a:ea typeface="DejaVu Sans"/>
                <a:cs typeface="DejaVu Sans"/>
              </a:rPr>
              <a:t>A schedule can consume part of several trades, and one trade can feed several schedules.</a:t>
            </a:r>
          </a:p>
        </p:txBody>
      </p:sp>
      <p:sp>
        <p:nvSpPr>
          <p:cNvPr id="42" name="Rectangle 41">
            <a:extLst>
              <a:ext uri="{FF2B5EF4-FFF2-40B4-BE49-F238E27FC236}">
                <a16:creationId xmlns:a16="http://schemas.microsoft.com/office/drawing/2014/main" id="{5E2BF1CD-76C1-4C72-83E8-76ADA9C5E40A}"/>
              </a:ext>
            </a:extLst>
          </p:cNvPr>
          <p:cNvSpPr>
            <a:spLocks noGrp="1"/>
          </p:cNvSpPr>
          <p:nvPr/>
        </p:nvSpPr>
        <p:spPr>
          <a:xfrm>
            <a:off x="11106150" y="6534150"/>
            <a:ext cx="476250" cy="171450"/>
          </a:xfrm>
          <a:prstGeom prst="rect">
            <a:avLst/>
          </a:prstGeom>
          <a:noFill/>
          <a:ln w="0">
            <a:noFill/>
          </a:ln>
        </p:spPr>
        <p:txBody>
          <a:bodyPr wrap="square" lIns="0" tIns="0" rIns="0" bIns="0" anchor="t">
            <a:normAutofit/>
          </a:bodyPr>
          <a:lstStyle/>
          <a:p>
            <a:pPr algn="r">
              <a:defRPr sz="975" b="0">
                <a:solidFill>
                  <a:srgbClr val="5F7182"/>
                </a:solidFill>
                <a:latin typeface="DejaVu Sans"/>
                <a:ea typeface="DejaVu Sans"/>
                <a:cs typeface="DejaVu Sans"/>
              </a:defRPr>
            </a:pPr>
            <a:r>
              <a:rPr sz="975" b="0">
                <a:solidFill>
                  <a:srgbClr val="5F7182"/>
                </a:solidFill>
                <a:latin typeface="DejaVu Sans"/>
                <a:ea typeface="DejaVu Sans"/>
                <a:cs typeface="DejaVu Sans"/>
              </a:rPr>
              <a:t>04</a:t>
            </a:r>
          </a:p>
        </p:txBody>
      </p:sp>
    </p:spTree>
    <p:extLst>
      <p:ext uri="{BB962C8B-B14F-4D97-AF65-F5344CB8AC3E}">
        <p14:creationId xmlns:p14="http://schemas.microsoft.com/office/powerpoint/2010/main" val="139464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F6C58472-0CA3-49E0-8AB2-58EEC9E4AC0B}"/>
              </a:ext>
            </a:extLst>
          </p:cNvPr>
          <p:cNvSpPr>
            <a:spLocks noGrp="1"/>
          </p:cNvSpPr>
          <p:nvPr/>
        </p:nvSpPr>
        <p:spPr>
          <a:xfrm>
            <a:off x="609600" y="323850"/>
            <a:ext cx="10972800" cy="495300"/>
          </a:xfrm>
          <a:prstGeom prst="rect">
            <a:avLst/>
          </a:prstGeom>
          <a:noFill/>
          <a:ln w="0">
            <a:noFill/>
          </a:ln>
        </p:spPr>
        <p:txBody>
          <a:bodyPr wrap="square" lIns="0" tIns="0" rIns="0" bIns="0" anchor="ctr">
            <a:normAutofit/>
          </a:bodyPr>
          <a:lstStyle/>
          <a:p>
            <a:pPr algn="l">
              <a:defRPr sz="3000" b="1">
                <a:solidFill>
                  <a:srgbClr val="12355B"/>
                </a:solidFill>
                <a:latin typeface="DejaVu Sans"/>
                <a:ea typeface="DejaVu Sans"/>
                <a:cs typeface="DejaVu Sans"/>
              </a:defRPr>
            </a:pPr>
            <a:r>
              <a:rPr sz="3000" b="1">
                <a:solidFill>
                  <a:srgbClr val="12355B"/>
                </a:solidFill>
                <a:latin typeface="DejaVu Sans"/>
                <a:ea typeface="DejaVu Sans"/>
                <a:cs typeface="DejaVu Sans"/>
              </a:rPr>
              <a:t>Target DA workflow</a:t>
            </a:r>
          </a:p>
        </p:txBody>
      </p:sp>
      <p:sp>
        <p:nvSpPr>
          <p:cNvPr id="2" name="Rectangle 1">
            <a:extLst>
              <a:ext uri="{FF2B5EF4-FFF2-40B4-BE49-F238E27FC236}">
                <a16:creationId xmlns:a16="http://schemas.microsoft.com/office/drawing/2014/main" id="{34166F0E-6185-47C7-AE45-25F7A9D2DE66}"/>
              </a:ext>
            </a:extLst>
          </p:cNvPr>
          <p:cNvSpPr>
            <a:spLocks noGrp="1"/>
          </p:cNvSpPr>
          <p:nvPr/>
        </p:nvSpPr>
        <p:spPr>
          <a:xfrm>
            <a:off x="628650" y="819150"/>
            <a:ext cx="10934700" cy="28575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Automation maintains the operating record and prepares actions while the trader retains commercial decisions and approvals</a:t>
            </a:r>
          </a:p>
        </p:txBody>
      </p:sp>
      <p:sp>
        <p:nvSpPr>
          <p:cNvPr id="3" name="Straight Connector 2">
            <a:extLst>
              <a:ext uri="{FF2B5EF4-FFF2-40B4-BE49-F238E27FC236}">
                <a16:creationId xmlns:a16="http://schemas.microsoft.com/office/drawing/2014/main" id="{C6F5DA65-FF1D-4E4D-A216-ACC4A762E374}"/>
              </a:ext>
            </a:extLst>
          </p:cNvPr>
          <p:cNvSpPr>
            <a:spLocks noGrp="1"/>
          </p:cNvSpPr>
          <p:nvPr/>
        </p:nvSpPr>
        <p:spPr>
          <a:xfrm>
            <a:off x="609600" y="1162050"/>
            <a:ext cx="10972800" cy="0"/>
          </a:xfrm>
          <a:prstGeom prst="line">
            <a:avLst/>
          </a:prstGeom>
          <a:noFill/>
          <a:ln w="9525">
            <a:solidFill>
              <a:srgbClr val="E3E9EF"/>
            </a:solidFill>
            <a:prstDash val="solid"/>
          </a:ln>
        </p:spPr>
        <p:txBody>
          <a:bodyPr/>
          <a:lstStyle/>
          <a:p>
            <a:endParaRPr lang="en-CA"/>
          </a:p>
        </p:txBody>
      </p:sp>
      <p:sp>
        <p:nvSpPr>
          <p:cNvPr id="4" name="Rectangle 3">
            <a:extLst>
              <a:ext uri="{FF2B5EF4-FFF2-40B4-BE49-F238E27FC236}">
                <a16:creationId xmlns:a16="http://schemas.microsoft.com/office/drawing/2014/main" id="{02EAA93F-D56B-4DFC-8F40-1952C1A78A39}"/>
              </a:ext>
            </a:extLst>
          </p:cNvPr>
          <p:cNvSpPr>
            <a:spLocks noGrp="1"/>
          </p:cNvSpPr>
          <p:nvPr/>
        </p:nvSpPr>
        <p:spPr>
          <a:xfrm>
            <a:off x="68580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1  Capture</a:t>
            </a:r>
          </a:p>
        </p:txBody>
      </p:sp>
      <p:sp>
        <p:nvSpPr>
          <p:cNvPr id="5" name="Rectangle: Rounded Corners 4">
            <a:extLst>
              <a:ext uri="{FF2B5EF4-FFF2-40B4-BE49-F238E27FC236}">
                <a16:creationId xmlns:a16="http://schemas.microsoft.com/office/drawing/2014/main" id="{38FFD1C6-B88A-47CA-B06A-E5870E0B2207}"/>
              </a:ext>
            </a:extLst>
          </p:cNvPr>
          <p:cNvSpPr>
            <a:spLocks noGrp="1"/>
          </p:cNvSpPr>
          <p:nvPr/>
        </p:nvSpPr>
        <p:spPr>
          <a:xfrm>
            <a:off x="68580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6" name="Rectangle 5">
            <a:extLst>
              <a:ext uri="{FF2B5EF4-FFF2-40B4-BE49-F238E27FC236}">
                <a16:creationId xmlns:a16="http://schemas.microsoft.com/office/drawing/2014/main" id="{C9F82984-8729-4A5A-8703-5A0E97887BC7}"/>
              </a:ext>
            </a:extLst>
          </p:cNvPr>
          <p:cNvSpPr>
            <a:spLocks noGrp="1"/>
          </p:cNvSpPr>
          <p:nvPr/>
        </p:nvSpPr>
        <p:spPr>
          <a:xfrm>
            <a:off x="80010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7" name="Rectangle 6">
            <a:extLst>
              <a:ext uri="{FF2B5EF4-FFF2-40B4-BE49-F238E27FC236}">
                <a16:creationId xmlns:a16="http://schemas.microsoft.com/office/drawing/2014/main" id="{C4CE0CD9-26D3-4F87-BE82-9978BDDF74A2}"/>
              </a:ext>
            </a:extLst>
          </p:cNvPr>
          <p:cNvSpPr>
            <a:spLocks noGrp="1"/>
          </p:cNvSpPr>
          <p:nvPr/>
        </p:nvSpPr>
        <p:spPr>
          <a:xfrm>
            <a:off x="80010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Enter phone trades and review captured deals</a:t>
            </a:r>
          </a:p>
        </p:txBody>
      </p:sp>
      <p:sp>
        <p:nvSpPr>
          <p:cNvPr id="8" name="Rectangle: Rounded Corners 7">
            <a:extLst>
              <a:ext uri="{FF2B5EF4-FFF2-40B4-BE49-F238E27FC236}">
                <a16:creationId xmlns:a16="http://schemas.microsoft.com/office/drawing/2014/main" id="{E9153A34-5091-418C-AB5C-30BDE98093B9}"/>
              </a:ext>
            </a:extLst>
          </p:cNvPr>
          <p:cNvSpPr>
            <a:spLocks noGrp="1"/>
          </p:cNvSpPr>
          <p:nvPr/>
        </p:nvSpPr>
        <p:spPr>
          <a:xfrm>
            <a:off x="68580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9" name="Rectangle 8">
            <a:extLst>
              <a:ext uri="{FF2B5EF4-FFF2-40B4-BE49-F238E27FC236}">
                <a16:creationId xmlns:a16="http://schemas.microsoft.com/office/drawing/2014/main" id="{2259C893-B9B9-4ABB-A8CC-8DDB10A59BDA}"/>
              </a:ext>
            </a:extLst>
          </p:cNvPr>
          <p:cNvSpPr>
            <a:spLocks noGrp="1"/>
          </p:cNvSpPr>
          <p:nvPr/>
        </p:nvSpPr>
        <p:spPr>
          <a:xfrm>
            <a:off x="80010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10" name="Rectangle 9">
            <a:extLst>
              <a:ext uri="{FF2B5EF4-FFF2-40B4-BE49-F238E27FC236}">
                <a16:creationId xmlns:a16="http://schemas.microsoft.com/office/drawing/2014/main" id="{29B1322E-430C-4092-8A9D-56F7D9E87569}"/>
              </a:ext>
            </a:extLst>
          </p:cNvPr>
          <p:cNvSpPr>
            <a:spLocks noGrp="1"/>
          </p:cNvSpPr>
          <p:nvPr/>
        </p:nvSpPr>
        <p:spPr>
          <a:xfrm>
            <a:off x="80010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Load term positions and ingest ICE trades automatically</a:t>
            </a:r>
          </a:p>
        </p:txBody>
      </p:sp>
      <p:cxnSp>
        <p:nvCxnSpPr>
          <p:cNvPr id="74" name="Straight Arrow Connector 73"/>
          <p:cNvCxnSpPr>
            <a:stCxn id="5" idx="2"/>
            <a:endCxn id="8" idx="0"/>
          </p:cNvCxnSpPr>
          <p:nvPr/>
        </p:nvCxnSpPr>
        <p:spPr>
          <a:xfrm>
            <a:off x="1524000" y="3714750"/>
            <a:ext cx="0" cy="609600"/>
          </a:xfrm>
          <a:prstGeom prst="straightConnector1">
            <a:avLst/>
          </a:prstGeom>
          <a:ln w="14288">
            <a:solidFill>
              <a:srgbClr val="5F7182"/>
            </a:solidFill>
            <a:prstDash val="solid"/>
            <a:headEnd type="none" w="med" len="med"/>
            <a:tailEnd type="diamond" w="sm" len="sm"/>
          </a:ln>
        </p:spPr>
      </p:cxnSp>
      <p:sp>
        <p:nvSpPr>
          <p:cNvPr id="12" name="Rectangle 11">
            <a:extLst>
              <a:ext uri="{FF2B5EF4-FFF2-40B4-BE49-F238E27FC236}">
                <a16:creationId xmlns:a16="http://schemas.microsoft.com/office/drawing/2014/main" id="{A43036B2-9127-40D1-839B-7337C7729D39}"/>
              </a:ext>
            </a:extLst>
          </p:cNvPr>
          <p:cNvSpPr>
            <a:spLocks noGrp="1"/>
          </p:cNvSpPr>
          <p:nvPr/>
        </p:nvSpPr>
        <p:spPr>
          <a:xfrm>
            <a:off x="257175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2  Match</a:t>
            </a:r>
          </a:p>
        </p:txBody>
      </p:sp>
      <p:sp>
        <p:nvSpPr>
          <p:cNvPr id="13" name="Rectangle: Rounded Corners 12">
            <a:extLst>
              <a:ext uri="{FF2B5EF4-FFF2-40B4-BE49-F238E27FC236}">
                <a16:creationId xmlns:a16="http://schemas.microsoft.com/office/drawing/2014/main" id="{C69CD358-31C9-4E97-A080-188DA5D47019}"/>
              </a:ext>
            </a:extLst>
          </p:cNvPr>
          <p:cNvSpPr>
            <a:spLocks noGrp="1"/>
          </p:cNvSpPr>
          <p:nvPr/>
        </p:nvSpPr>
        <p:spPr>
          <a:xfrm>
            <a:off x="257175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14" name="Rectangle 13">
            <a:extLst>
              <a:ext uri="{FF2B5EF4-FFF2-40B4-BE49-F238E27FC236}">
                <a16:creationId xmlns:a16="http://schemas.microsoft.com/office/drawing/2014/main" id="{D1E0CCE1-6880-4AE5-A50C-C0BC8BEC78ED}"/>
              </a:ext>
            </a:extLst>
          </p:cNvPr>
          <p:cNvSpPr>
            <a:spLocks noGrp="1"/>
          </p:cNvSpPr>
          <p:nvPr/>
        </p:nvSpPr>
        <p:spPr>
          <a:xfrm>
            <a:off x="268605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15" name="Rectangle 14">
            <a:extLst>
              <a:ext uri="{FF2B5EF4-FFF2-40B4-BE49-F238E27FC236}">
                <a16:creationId xmlns:a16="http://schemas.microsoft.com/office/drawing/2014/main" id="{BF8C672D-DDB3-4850-A2E2-DA53A9180F5F}"/>
              </a:ext>
            </a:extLst>
          </p:cNvPr>
          <p:cNvSpPr>
            <a:spLocks noGrp="1"/>
          </p:cNvSpPr>
          <p:nvPr/>
        </p:nvSpPr>
        <p:spPr>
          <a:xfrm>
            <a:off x="268605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Choose how buys and sells should be allocated</a:t>
            </a:r>
          </a:p>
        </p:txBody>
      </p:sp>
      <p:sp>
        <p:nvSpPr>
          <p:cNvPr id="16" name="Rectangle: Rounded Corners 15">
            <a:extLst>
              <a:ext uri="{FF2B5EF4-FFF2-40B4-BE49-F238E27FC236}">
                <a16:creationId xmlns:a16="http://schemas.microsoft.com/office/drawing/2014/main" id="{CD102DAA-BED9-4BFD-8D98-30330C496142}"/>
              </a:ext>
            </a:extLst>
          </p:cNvPr>
          <p:cNvSpPr>
            <a:spLocks noGrp="1"/>
          </p:cNvSpPr>
          <p:nvPr/>
        </p:nvSpPr>
        <p:spPr>
          <a:xfrm>
            <a:off x="257175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17" name="Rectangle 16">
            <a:extLst>
              <a:ext uri="{FF2B5EF4-FFF2-40B4-BE49-F238E27FC236}">
                <a16:creationId xmlns:a16="http://schemas.microsoft.com/office/drawing/2014/main" id="{A9852AFC-9CB0-4E93-A470-B7A22664DC3A}"/>
              </a:ext>
            </a:extLst>
          </p:cNvPr>
          <p:cNvSpPr>
            <a:spLocks noGrp="1"/>
          </p:cNvSpPr>
          <p:nvPr/>
        </p:nvSpPr>
        <p:spPr>
          <a:xfrm>
            <a:off x="268605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18" name="Rectangle 17">
            <a:extLst>
              <a:ext uri="{FF2B5EF4-FFF2-40B4-BE49-F238E27FC236}">
                <a16:creationId xmlns:a16="http://schemas.microsoft.com/office/drawing/2014/main" id="{D7E49D54-B995-4074-9D88-C23816E869CB}"/>
              </a:ext>
            </a:extLst>
          </p:cNvPr>
          <p:cNvSpPr>
            <a:spLocks noGrp="1"/>
          </p:cNvSpPr>
          <p:nvPr/>
        </p:nvSpPr>
        <p:spPr>
          <a:xfrm>
            <a:off x="268605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Support split MW and hours; show residual open positions</a:t>
            </a:r>
          </a:p>
        </p:txBody>
      </p:sp>
      <p:cxnSp>
        <p:nvCxnSpPr>
          <p:cNvPr id="82" name="Straight Arrow Connector 81"/>
          <p:cNvCxnSpPr>
            <a:stCxn id="13" idx="2"/>
            <a:endCxn id="16" idx="0"/>
          </p:cNvCxnSpPr>
          <p:nvPr/>
        </p:nvCxnSpPr>
        <p:spPr>
          <a:xfrm>
            <a:off x="3409950" y="3714750"/>
            <a:ext cx="0" cy="609600"/>
          </a:xfrm>
          <a:prstGeom prst="straightConnector1">
            <a:avLst/>
          </a:prstGeom>
          <a:ln w="14288">
            <a:solidFill>
              <a:srgbClr val="5F7182"/>
            </a:solidFill>
            <a:prstDash val="solid"/>
            <a:headEnd type="none" w="med" len="med"/>
            <a:tailEnd type="diamond" w="sm" len="sm"/>
          </a:ln>
        </p:spPr>
      </p:cxnSp>
      <p:cxnSp>
        <p:nvCxnSpPr>
          <p:cNvPr id="83" name="Straight Arrow Connector 82"/>
          <p:cNvCxnSpPr>
            <a:stCxn id="5" idx="3"/>
            <a:endCxn id="13" idx="1"/>
          </p:cNvCxnSpPr>
          <p:nvPr/>
        </p:nvCxnSpPr>
        <p:spPr>
          <a:xfrm>
            <a:off x="2362200" y="2905125"/>
            <a:ext cx="209550" cy="0"/>
          </a:xfrm>
          <a:prstGeom prst="straightConnector1">
            <a:avLst/>
          </a:prstGeom>
          <a:ln w="14288">
            <a:solidFill>
              <a:srgbClr val="12355B"/>
            </a:solidFill>
            <a:prstDash val="solid"/>
            <a:headEnd type="none" w="med" len="med"/>
            <a:tailEnd type="triangle" w="sm" len="sm"/>
          </a:ln>
        </p:spPr>
      </p:cxnSp>
      <p:cxnSp>
        <p:nvCxnSpPr>
          <p:cNvPr id="84" name="Straight Arrow Connector 83"/>
          <p:cNvCxnSpPr>
            <a:stCxn id="8" idx="3"/>
            <a:endCxn id="16" idx="1"/>
          </p:cNvCxnSpPr>
          <p:nvPr/>
        </p:nvCxnSpPr>
        <p:spPr>
          <a:xfrm>
            <a:off x="2362200" y="5133975"/>
            <a:ext cx="209550" cy="0"/>
          </a:xfrm>
          <a:prstGeom prst="straightConnector1">
            <a:avLst/>
          </a:prstGeom>
          <a:ln w="14288">
            <a:solidFill>
              <a:srgbClr val="238C8C"/>
            </a:solidFill>
            <a:prstDash val="solid"/>
            <a:headEnd type="none" w="med" len="med"/>
            <a:tailEnd type="triangle" w="sm" len="sm"/>
          </a:ln>
        </p:spPr>
      </p:cxnSp>
      <p:sp>
        <p:nvSpPr>
          <p:cNvPr id="22" name="Rectangle 21">
            <a:extLst>
              <a:ext uri="{FF2B5EF4-FFF2-40B4-BE49-F238E27FC236}">
                <a16:creationId xmlns:a16="http://schemas.microsoft.com/office/drawing/2014/main" id="{39E8BB39-02D3-4743-BE5B-1E254BD6994D}"/>
              </a:ext>
            </a:extLst>
          </p:cNvPr>
          <p:cNvSpPr>
            <a:spLocks noGrp="1"/>
          </p:cNvSpPr>
          <p:nvPr/>
        </p:nvSpPr>
        <p:spPr>
          <a:xfrm>
            <a:off x="445770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3  Bid</a:t>
            </a:r>
          </a:p>
        </p:txBody>
      </p:sp>
      <p:sp>
        <p:nvSpPr>
          <p:cNvPr id="23" name="Rectangle: Rounded Corners 22">
            <a:extLst>
              <a:ext uri="{FF2B5EF4-FFF2-40B4-BE49-F238E27FC236}">
                <a16:creationId xmlns:a16="http://schemas.microsoft.com/office/drawing/2014/main" id="{8807C977-4BF8-4E56-B3B4-82FA1C4DB888}"/>
              </a:ext>
            </a:extLst>
          </p:cNvPr>
          <p:cNvSpPr>
            <a:spLocks noGrp="1"/>
          </p:cNvSpPr>
          <p:nvPr/>
        </p:nvSpPr>
        <p:spPr>
          <a:xfrm>
            <a:off x="445770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24" name="Rectangle 23">
            <a:extLst>
              <a:ext uri="{FF2B5EF4-FFF2-40B4-BE49-F238E27FC236}">
                <a16:creationId xmlns:a16="http://schemas.microsoft.com/office/drawing/2014/main" id="{C4EF9673-2287-4B6F-B073-BB834163A4D3}"/>
              </a:ext>
            </a:extLst>
          </p:cNvPr>
          <p:cNvSpPr>
            <a:spLocks noGrp="1"/>
          </p:cNvSpPr>
          <p:nvPr/>
        </p:nvSpPr>
        <p:spPr>
          <a:xfrm>
            <a:off x="457200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25" name="Rectangle 24">
            <a:extLst>
              <a:ext uri="{FF2B5EF4-FFF2-40B4-BE49-F238E27FC236}">
                <a16:creationId xmlns:a16="http://schemas.microsoft.com/office/drawing/2014/main" id="{13BB3E09-31FD-4FF9-99CD-F31EF9A21875}"/>
              </a:ext>
            </a:extLst>
          </p:cNvPr>
          <p:cNvSpPr>
            <a:spLocks noGrp="1"/>
          </p:cNvSpPr>
          <p:nvPr/>
        </p:nvSpPr>
        <p:spPr>
          <a:xfrm>
            <a:off x="457200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Review daily bids and submit through MAGTrade</a:t>
            </a:r>
          </a:p>
        </p:txBody>
      </p:sp>
      <p:sp>
        <p:nvSpPr>
          <p:cNvPr id="26" name="Rectangle: Rounded Corners 25">
            <a:extLst>
              <a:ext uri="{FF2B5EF4-FFF2-40B4-BE49-F238E27FC236}">
                <a16:creationId xmlns:a16="http://schemas.microsoft.com/office/drawing/2014/main" id="{488DC987-1001-442B-9F58-F71626866671}"/>
              </a:ext>
            </a:extLst>
          </p:cNvPr>
          <p:cNvSpPr>
            <a:spLocks noGrp="1"/>
          </p:cNvSpPr>
          <p:nvPr/>
        </p:nvSpPr>
        <p:spPr>
          <a:xfrm>
            <a:off x="445770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27" name="Rectangle 26">
            <a:extLst>
              <a:ext uri="{FF2B5EF4-FFF2-40B4-BE49-F238E27FC236}">
                <a16:creationId xmlns:a16="http://schemas.microsoft.com/office/drawing/2014/main" id="{621EEFB2-5AC9-4C34-A666-65ADB7646751}"/>
              </a:ext>
            </a:extLst>
          </p:cNvPr>
          <p:cNvSpPr>
            <a:spLocks noGrp="1"/>
          </p:cNvSpPr>
          <p:nvPr/>
        </p:nvSpPr>
        <p:spPr>
          <a:xfrm>
            <a:off x="457200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28" name="Rectangle 27">
            <a:extLst>
              <a:ext uri="{FF2B5EF4-FFF2-40B4-BE49-F238E27FC236}">
                <a16:creationId xmlns:a16="http://schemas.microsoft.com/office/drawing/2014/main" id="{B9FD771B-7A0D-4ABE-98C5-12F8EB884D66}"/>
              </a:ext>
            </a:extLst>
          </p:cNvPr>
          <p:cNvSpPr>
            <a:spLocks noGrp="1"/>
          </p:cNvSpPr>
          <p:nvPr/>
        </p:nvSpPr>
        <p:spPr>
          <a:xfrm>
            <a:off x="457200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Create daily bid files from schedules linked to markets</a:t>
            </a:r>
          </a:p>
        </p:txBody>
      </p:sp>
      <p:cxnSp>
        <p:nvCxnSpPr>
          <p:cNvPr id="92" name="Straight Arrow Connector 91"/>
          <p:cNvCxnSpPr>
            <a:stCxn id="23" idx="2"/>
            <a:endCxn id="26" idx="0"/>
          </p:cNvCxnSpPr>
          <p:nvPr/>
        </p:nvCxnSpPr>
        <p:spPr>
          <a:xfrm>
            <a:off x="5295900" y="3714750"/>
            <a:ext cx="0" cy="609600"/>
          </a:xfrm>
          <a:prstGeom prst="straightConnector1">
            <a:avLst/>
          </a:prstGeom>
          <a:ln w="14288">
            <a:solidFill>
              <a:srgbClr val="5F7182"/>
            </a:solidFill>
            <a:prstDash val="solid"/>
            <a:headEnd type="none" w="med" len="med"/>
            <a:tailEnd type="diamond" w="sm" len="sm"/>
          </a:ln>
        </p:spPr>
      </p:cxnSp>
      <p:cxnSp>
        <p:nvCxnSpPr>
          <p:cNvPr id="93" name="Straight Arrow Connector 92"/>
          <p:cNvCxnSpPr>
            <a:stCxn id="13" idx="3"/>
            <a:endCxn id="23" idx="1"/>
          </p:cNvCxnSpPr>
          <p:nvPr/>
        </p:nvCxnSpPr>
        <p:spPr>
          <a:xfrm>
            <a:off x="4248150" y="2905125"/>
            <a:ext cx="209550" cy="0"/>
          </a:xfrm>
          <a:prstGeom prst="straightConnector1">
            <a:avLst/>
          </a:prstGeom>
          <a:ln w="14288">
            <a:solidFill>
              <a:srgbClr val="12355B"/>
            </a:solidFill>
            <a:prstDash val="solid"/>
            <a:headEnd type="none" w="med" len="med"/>
            <a:tailEnd type="triangle" w="sm" len="sm"/>
          </a:ln>
        </p:spPr>
      </p:cxnSp>
      <p:cxnSp>
        <p:nvCxnSpPr>
          <p:cNvPr id="94" name="Straight Arrow Connector 93"/>
          <p:cNvCxnSpPr>
            <a:stCxn id="16" idx="3"/>
            <a:endCxn id="26" idx="1"/>
          </p:cNvCxnSpPr>
          <p:nvPr/>
        </p:nvCxnSpPr>
        <p:spPr>
          <a:xfrm>
            <a:off x="4248150" y="5133975"/>
            <a:ext cx="209550" cy="0"/>
          </a:xfrm>
          <a:prstGeom prst="straightConnector1">
            <a:avLst/>
          </a:prstGeom>
          <a:ln w="14288">
            <a:solidFill>
              <a:srgbClr val="238C8C"/>
            </a:solidFill>
            <a:prstDash val="solid"/>
            <a:headEnd type="none" w="med" len="med"/>
            <a:tailEnd type="triangle" w="sm" len="sm"/>
          </a:ln>
        </p:spPr>
      </p:cxnSp>
      <p:sp>
        <p:nvSpPr>
          <p:cNvPr id="32" name="Rectangle 31">
            <a:extLst>
              <a:ext uri="{FF2B5EF4-FFF2-40B4-BE49-F238E27FC236}">
                <a16:creationId xmlns:a16="http://schemas.microsoft.com/office/drawing/2014/main" id="{61C01BD7-CAC0-4505-84CC-2C7438B87E28}"/>
              </a:ext>
            </a:extLst>
          </p:cNvPr>
          <p:cNvSpPr>
            <a:spLocks noGrp="1"/>
          </p:cNvSpPr>
          <p:nvPr/>
        </p:nvSpPr>
        <p:spPr>
          <a:xfrm>
            <a:off x="634365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4  Transmission</a:t>
            </a:r>
          </a:p>
        </p:txBody>
      </p:sp>
      <p:sp>
        <p:nvSpPr>
          <p:cNvPr id="33" name="Rectangle: Rounded Corners 32">
            <a:extLst>
              <a:ext uri="{FF2B5EF4-FFF2-40B4-BE49-F238E27FC236}">
                <a16:creationId xmlns:a16="http://schemas.microsoft.com/office/drawing/2014/main" id="{1C2A047C-A30C-46B5-9A69-F779637F9482}"/>
              </a:ext>
            </a:extLst>
          </p:cNvPr>
          <p:cNvSpPr>
            <a:spLocks noGrp="1"/>
          </p:cNvSpPr>
          <p:nvPr/>
        </p:nvSpPr>
        <p:spPr>
          <a:xfrm>
            <a:off x="634365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34" name="Rectangle 33">
            <a:extLst>
              <a:ext uri="{FF2B5EF4-FFF2-40B4-BE49-F238E27FC236}">
                <a16:creationId xmlns:a16="http://schemas.microsoft.com/office/drawing/2014/main" id="{C865DCCE-DC47-4FAE-90B8-07AFA3389026}"/>
              </a:ext>
            </a:extLst>
          </p:cNvPr>
          <p:cNvSpPr>
            <a:spLocks noGrp="1"/>
          </p:cNvSpPr>
          <p:nvPr/>
        </p:nvSpPr>
        <p:spPr>
          <a:xfrm>
            <a:off x="645795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35" name="Rectangle 34">
            <a:extLst>
              <a:ext uri="{FF2B5EF4-FFF2-40B4-BE49-F238E27FC236}">
                <a16:creationId xmlns:a16="http://schemas.microsoft.com/office/drawing/2014/main" id="{4429ABAD-DB77-48B8-8ED1-865E20B4817A}"/>
              </a:ext>
            </a:extLst>
          </p:cNvPr>
          <p:cNvSpPr>
            <a:spLocks noGrp="1"/>
          </p:cNvSpPr>
          <p:nvPr/>
        </p:nvSpPr>
        <p:spPr>
          <a:xfrm>
            <a:off x="645795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Choose among alternatives when economics or firmness matter</a:t>
            </a:r>
          </a:p>
        </p:txBody>
      </p:sp>
      <p:sp>
        <p:nvSpPr>
          <p:cNvPr id="36" name="Rectangle: Rounded Corners 35">
            <a:extLst>
              <a:ext uri="{FF2B5EF4-FFF2-40B4-BE49-F238E27FC236}">
                <a16:creationId xmlns:a16="http://schemas.microsoft.com/office/drawing/2014/main" id="{872E73A3-CD70-4CB8-8C75-0015796926FC}"/>
              </a:ext>
            </a:extLst>
          </p:cNvPr>
          <p:cNvSpPr>
            <a:spLocks noGrp="1"/>
          </p:cNvSpPr>
          <p:nvPr/>
        </p:nvSpPr>
        <p:spPr>
          <a:xfrm>
            <a:off x="634365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37" name="Rectangle 36">
            <a:extLst>
              <a:ext uri="{FF2B5EF4-FFF2-40B4-BE49-F238E27FC236}">
                <a16:creationId xmlns:a16="http://schemas.microsoft.com/office/drawing/2014/main" id="{4A945A78-3D5B-4904-975A-DDE3D4CEB610}"/>
              </a:ext>
            </a:extLst>
          </p:cNvPr>
          <p:cNvSpPr>
            <a:spLocks noGrp="1"/>
          </p:cNvSpPr>
          <p:nvPr/>
        </p:nvSpPr>
        <p:spPr>
          <a:xfrm>
            <a:off x="645795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38" name="Rectangle 37">
            <a:extLst>
              <a:ext uri="{FF2B5EF4-FFF2-40B4-BE49-F238E27FC236}">
                <a16:creationId xmlns:a16="http://schemas.microsoft.com/office/drawing/2014/main" id="{B8D66102-0022-48B5-B9AA-7D8271B3EBC9}"/>
              </a:ext>
            </a:extLst>
          </p:cNvPr>
          <p:cNvSpPr>
            <a:spLocks noGrp="1"/>
          </p:cNvSpPr>
          <p:nvPr/>
        </p:nvSpPr>
        <p:spPr>
          <a:xfrm>
            <a:off x="645795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Detect the need, suggest options, reserve or configure the robot</a:t>
            </a:r>
          </a:p>
        </p:txBody>
      </p:sp>
      <p:cxnSp>
        <p:nvCxnSpPr>
          <p:cNvPr id="102" name="Straight Arrow Connector 101"/>
          <p:cNvCxnSpPr>
            <a:stCxn id="33" idx="2"/>
            <a:endCxn id="36" idx="0"/>
          </p:cNvCxnSpPr>
          <p:nvPr/>
        </p:nvCxnSpPr>
        <p:spPr>
          <a:xfrm>
            <a:off x="7181850" y="3714750"/>
            <a:ext cx="0" cy="609600"/>
          </a:xfrm>
          <a:prstGeom prst="straightConnector1">
            <a:avLst/>
          </a:prstGeom>
          <a:ln w="14288">
            <a:solidFill>
              <a:srgbClr val="5F7182"/>
            </a:solidFill>
            <a:prstDash val="solid"/>
            <a:headEnd type="none" w="med" len="med"/>
            <a:tailEnd type="diamond" w="sm" len="sm"/>
          </a:ln>
        </p:spPr>
      </p:cxnSp>
      <p:cxnSp>
        <p:nvCxnSpPr>
          <p:cNvPr id="103" name="Straight Arrow Connector 102"/>
          <p:cNvCxnSpPr>
            <a:stCxn id="23" idx="3"/>
            <a:endCxn id="33" idx="1"/>
          </p:cNvCxnSpPr>
          <p:nvPr/>
        </p:nvCxnSpPr>
        <p:spPr>
          <a:xfrm>
            <a:off x="6134100" y="2905125"/>
            <a:ext cx="209550" cy="0"/>
          </a:xfrm>
          <a:prstGeom prst="straightConnector1">
            <a:avLst/>
          </a:prstGeom>
          <a:ln w="14288">
            <a:solidFill>
              <a:srgbClr val="12355B"/>
            </a:solidFill>
            <a:prstDash val="solid"/>
            <a:headEnd type="none" w="med" len="med"/>
            <a:tailEnd type="triangle" w="sm" len="sm"/>
          </a:ln>
        </p:spPr>
      </p:cxnSp>
      <p:cxnSp>
        <p:nvCxnSpPr>
          <p:cNvPr id="104" name="Straight Arrow Connector 103"/>
          <p:cNvCxnSpPr>
            <a:stCxn id="26" idx="3"/>
            <a:endCxn id="36" idx="1"/>
          </p:cNvCxnSpPr>
          <p:nvPr/>
        </p:nvCxnSpPr>
        <p:spPr>
          <a:xfrm>
            <a:off x="6134100" y="5133975"/>
            <a:ext cx="209550" cy="0"/>
          </a:xfrm>
          <a:prstGeom prst="straightConnector1">
            <a:avLst/>
          </a:prstGeom>
          <a:ln w="14288">
            <a:solidFill>
              <a:srgbClr val="238C8C"/>
            </a:solidFill>
            <a:prstDash val="solid"/>
            <a:headEnd type="none" w="med" len="med"/>
            <a:tailEnd type="triangle" w="sm" len="sm"/>
          </a:ln>
        </p:spPr>
      </p:cxnSp>
      <p:sp>
        <p:nvSpPr>
          <p:cNvPr id="42" name="Rectangle 41">
            <a:extLst>
              <a:ext uri="{FF2B5EF4-FFF2-40B4-BE49-F238E27FC236}">
                <a16:creationId xmlns:a16="http://schemas.microsoft.com/office/drawing/2014/main" id="{979BB473-8C26-447A-AFE1-33E0297380AC}"/>
              </a:ext>
            </a:extLst>
          </p:cNvPr>
          <p:cNvSpPr>
            <a:spLocks noGrp="1"/>
          </p:cNvSpPr>
          <p:nvPr/>
        </p:nvSpPr>
        <p:spPr>
          <a:xfrm>
            <a:off x="822960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5  Schedule and tag</a:t>
            </a:r>
          </a:p>
        </p:txBody>
      </p:sp>
      <p:sp>
        <p:nvSpPr>
          <p:cNvPr id="43" name="Rectangle: Rounded Corners 42">
            <a:extLst>
              <a:ext uri="{FF2B5EF4-FFF2-40B4-BE49-F238E27FC236}">
                <a16:creationId xmlns:a16="http://schemas.microsoft.com/office/drawing/2014/main" id="{08DD8A73-DD47-4568-BEE4-CFB31B52E006}"/>
              </a:ext>
            </a:extLst>
          </p:cNvPr>
          <p:cNvSpPr>
            <a:spLocks noGrp="1"/>
          </p:cNvSpPr>
          <p:nvPr/>
        </p:nvSpPr>
        <p:spPr>
          <a:xfrm>
            <a:off x="822960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44" name="Rectangle 43">
            <a:extLst>
              <a:ext uri="{FF2B5EF4-FFF2-40B4-BE49-F238E27FC236}">
                <a16:creationId xmlns:a16="http://schemas.microsoft.com/office/drawing/2014/main" id="{FE6E0AC0-E21A-4BF1-B794-0663F5FCB97A}"/>
              </a:ext>
            </a:extLst>
          </p:cNvPr>
          <p:cNvSpPr>
            <a:spLocks noGrp="1"/>
          </p:cNvSpPr>
          <p:nvPr/>
        </p:nvSpPr>
        <p:spPr>
          <a:xfrm>
            <a:off x="834390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45" name="Rectangle 44">
            <a:extLst>
              <a:ext uri="{FF2B5EF4-FFF2-40B4-BE49-F238E27FC236}">
                <a16:creationId xmlns:a16="http://schemas.microsoft.com/office/drawing/2014/main" id="{83D45F75-9AAE-4731-B2EF-3F9AF02055ED}"/>
              </a:ext>
            </a:extLst>
          </p:cNvPr>
          <p:cNvSpPr>
            <a:spLocks noGrp="1"/>
          </p:cNvSpPr>
          <p:nvPr/>
        </p:nvSpPr>
        <p:spPr>
          <a:xfrm>
            <a:off x="834390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Confirm path details and handle exceptions with counterparties</a:t>
            </a:r>
          </a:p>
        </p:txBody>
      </p:sp>
      <p:sp>
        <p:nvSpPr>
          <p:cNvPr id="46" name="Rectangle: Rounded Corners 45">
            <a:extLst>
              <a:ext uri="{FF2B5EF4-FFF2-40B4-BE49-F238E27FC236}">
                <a16:creationId xmlns:a16="http://schemas.microsoft.com/office/drawing/2014/main" id="{365C0043-5A6A-459C-86FB-11B142CACCFA}"/>
              </a:ext>
            </a:extLst>
          </p:cNvPr>
          <p:cNvSpPr>
            <a:spLocks noGrp="1"/>
          </p:cNvSpPr>
          <p:nvPr/>
        </p:nvSpPr>
        <p:spPr>
          <a:xfrm>
            <a:off x="822960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47" name="Rectangle 46">
            <a:extLst>
              <a:ext uri="{FF2B5EF4-FFF2-40B4-BE49-F238E27FC236}">
                <a16:creationId xmlns:a16="http://schemas.microsoft.com/office/drawing/2014/main" id="{72F758D6-1C13-4148-A6F2-EED928284A4E}"/>
              </a:ext>
            </a:extLst>
          </p:cNvPr>
          <p:cNvSpPr>
            <a:spLocks noGrp="1"/>
          </p:cNvSpPr>
          <p:nvPr/>
        </p:nvSpPr>
        <p:spPr>
          <a:xfrm>
            <a:off x="834390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48" name="Rectangle 47">
            <a:extLst>
              <a:ext uri="{FF2B5EF4-FFF2-40B4-BE49-F238E27FC236}">
                <a16:creationId xmlns:a16="http://schemas.microsoft.com/office/drawing/2014/main" id="{9698EDA6-6C66-4AD3-933E-5142B6C29733}"/>
              </a:ext>
            </a:extLst>
          </p:cNvPr>
          <p:cNvSpPr>
            <a:spLocks noGrp="1"/>
          </p:cNvSpPr>
          <p:nvPr/>
        </p:nvSpPr>
        <p:spPr>
          <a:xfrm>
            <a:off x="834390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Read path strings from ICE Chat and build E-Tag Excel files</a:t>
            </a:r>
          </a:p>
        </p:txBody>
      </p:sp>
      <p:cxnSp>
        <p:nvCxnSpPr>
          <p:cNvPr id="112" name="Straight Arrow Connector 111"/>
          <p:cNvCxnSpPr>
            <a:stCxn id="43" idx="2"/>
            <a:endCxn id="46" idx="0"/>
          </p:cNvCxnSpPr>
          <p:nvPr/>
        </p:nvCxnSpPr>
        <p:spPr>
          <a:xfrm>
            <a:off x="9067800" y="3714750"/>
            <a:ext cx="0" cy="609600"/>
          </a:xfrm>
          <a:prstGeom prst="straightConnector1">
            <a:avLst/>
          </a:prstGeom>
          <a:ln w="14288">
            <a:solidFill>
              <a:srgbClr val="5F7182"/>
            </a:solidFill>
            <a:prstDash val="solid"/>
            <a:headEnd type="none" w="med" len="med"/>
            <a:tailEnd type="diamond" w="sm" len="sm"/>
          </a:ln>
        </p:spPr>
      </p:cxnSp>
      <p:cxnSp>
        <p:nvCxnSpPr>
          <p:cNvPr id="113" name="Straight Arrow Connector 112"/>
          <p:cNvCxnSpPr>
            <a:stCxn id="33" idx="3"/>
            <a:endCxn id="43" idx="1"/>
          </p:cNvCxnSpPr>
          <p:nvPr/>
        </p:nvCxnSpPr>
        <p:spPr>
          <a:xfrm>
            <a:off x="8020050" y="2905125"/>
            <a:ext cx="209550" cy="0"/>
          </a:xfrm>
          <a:prstGeom prst="straightConnector1">
            <a:avLst/>
          </a:prstGeom>
          <a:ln w="14288">
            <a:solidFill>
              <a:srgbClr val="12355B"/>
            </a:solidFill>
            <a:prstDash val="solid"/>
            <a:headEnd type="none" w="med" len="med"/>
            <a:tailEnd type="triangle" w="sm" len="sm"/>
          </a:ln>
        </p:spPr>
      </p:cxnSp>
      <p:cxnSp>
        <p:nvCxnSpPr>
          <p:cNvPr id="114" name="Straight Arrow Connector 113"/>
          <p:cNvCxnSpPr>
            <a:stCxn id="36" idx="3"/>
            <a:endCxn id="46" idx="1"/>
          </p:cNvCxnSpPr>
          <p:nvPr/>
        </p:nvCxnSpPr>
        <p:spPr>
          <a:xfrm>
            <a:off x="8020050" y="5133975"/>
            <a:ext cx="209550" cy="0"/>
          </a:xfrm>
          <a:prstGeom prst="straightConnector1">
            <a:avLst/>
          </a:prstGeom>
          <a:ln w="14288">
            <a:solidFill>
              <a:srgbClr val="238C8C"/>
            </a:solidFill>
            <a:prstDash val="solid"/>
            <a:headEnd type="none" w="med" len="med"/>
            <a:tailEnd type="triangle" w="sm" len="sm"/>
          </a:ln>
        </p:spPr>
      </p:cxnSp>
      <p:sp>
        <p:nvSpPr>
          <p:cNvPr id="52" name="Rectangle 51">
            <a:extLst>
              <a:ext uri="{FF2B5EF4-FFF2-40B4-BE49-F238E27FC236}">
                <a16:creationId xmlns:a16="http://schemas.microsoft.com/office/drawing/2014/main" id="{2F26FB9C-EB2D-45D3-B31B-2424B4D594DB}"/>
              </a:ext>
            </a:extLst>
          </p:cNvPr>
          <p:cNvSpPr>
            <a:spLocks noGrp="1"/>
          </p:cNvSpPr>
          <p:nvPr/>
        </p:nvSpPr>
        <p:spPr>
          <a:xfrm>
            <a:off x="10115550" y="1428750"/>
            <a:ext cx="1676400" cy="438150"/>
          </a:xfrm>
          <a:prstGeom prst="rect">
            <a:avLst/>
          </a:prstGeom>
          <a:noFill/>
          <a:ln w="0">
            <a:noFill/>
          </a:ln>
        </p:spPr>
        <p:txBody>
          <a:bodyPr wrap="square" lIns="0" tIns="0" rIns="0" bIns="0" anchor="ctr">
            <a:normAutofit/>
          </a:bodyPr>
          <a:lstStyle/>
          <a:p>
            <a:pPr algn="ctr">
              <a:defRPr sz="1275" b="1">
                <a:solidFill>
                  <a:srgbClr val="12355B"/>
                </a:solidFill>
                <a:latin typeface="DejaVu Sans"/>
                <a:ea typeface="DejaVu Sans"/>
                <a:cs typeface="DejaVu Sans"/>
              </a:defRPr>
            </a:pPr>
            <a:r>
              <a:rPr sz="1275" b="1">
                <a:solidFill>
                  <a:srgbClr val="12355B"/>
                </a:solidFill>
                <a:latin typeface="DejaVu Sans"/>
                <a:ea typeface="DejaVu Sans"/>
                <a:cs typeface="DejaVu Sans"/>
              </a:rPr>
              <a:t>6  Validate and hand off</a:t>
            </a:r>
          </a:p>
        </p:txBody>
      </p:sp>
      <p:sp>
        <p:nvSpPr>
          <p:cNvPr id="53" name="Rectangle: Rounded Corners 52">
            <a:extLst>
              <a:ext uri="{FF2B5EF4-FFF2-40B4-BE49-F238E27FC236}">
                <a16:creationId xmlns:a16="http://schemas.microsoft.com/office/drawing/2014/main" id="{CC4DB02B-209E-4D68-908C-43447D4651D6}"/>
              </a:ext>
            </a:extLst>
          </p:cNvPr>
          <p:cNvSpPr>
            <a:spLocks noGrp="1"/>
          </p:cNvSpPr>
          <p:nvPr/>
        </p:nvSpPr>
        <p:spPr>
          <a:xfrm>
            <a:off x="10115550" y="2095500"/>
            <a:ext cx="1676400" cy="1619250"/>
          </a:xfrm>
          <a:prstGeom prst="roundRect">
            <a:avLst>
              <a:gd name="adj" fmla="val 5882"/>
            </a:avLst>
          </a:prstGeom>
          <a:solidFill>
            <a:srgbClr val="E7F0FA"/>
          </a:solidFill>
          <a:ln w="9525">
            <a:solidFill>
              <a:srgbClr val="2B6CB0"/>
            </a:solidFill>
            <a:prstDash val="solid"/>
          </a:ln>
        </p:spPr>
        <p:txBody>
          <a:bodyPr/>
          <a:lstStyle/>
          <a:p>
            <a:endParaRPr lang="en-CA"/>
          </a:p>
        </p:txBody>
      </p:sp>
      <p:sp>
        <p:nvSpPr>
          <p:cNvPr id="54" name="Rectangle 53">
            <a:extLst>
              <a:ext uri="{FF2B5EF4-FFF2-40B4-BE49-F238E27FC236}">
                <a16:creationId xmlns:a16="http://schemas.microsoft.com/office/drawing/2014/main" id="{3FBCF696-DA18-45DA-A152-C9B3FA49E288}"/>
              </a:ext>
            </a:extLst>
          </p:cNvPr>
          <p:cNvSpPr>
            <a:spLocks noGrp="1"/>
          </p:cNvSpPr>
          <p:nvPr/>
        </p:nvSpPr>
        <p:spPr>
          <a:xfrm>
            <a:off x="10229850" y="219075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Human</a:t>
            </a:r>
          </a:p>
        </p:txBody>
      </p:sp>
      <p:sp>
        <p:nvSpPr>
          <p:cNvPr id="55" name="Rectangle 54">
            <a:extLst>
              <a:ext uri="{FF2B5EF4-FFF2-40B4-BE49-F238E27FC236}">
                <a16:creationId xmlns:a16="http://schemas.microsoft.com/office/drawing/2014/main" id="{E6020175-13EC-467E-9BEB-D4C257DFF234}"/>
              </a:ext>
            </a:extLst>
          </p:cNvPr>
          <p:cNvSpPr>
            <a:spLocks noGrp="1"/>
          </p:cNvSpPr>
          <p:nvPr/>
        </p:nvSpPr>
        <p:spPr>
          <a:xfrm>
            <a:off x="10229850" y="245745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Add rationale and approve the final DA summary</a:t>
            </a:r>
          </a:p>
        </p:txBody>
      </p:sp>
      <p:sp>
        <p:nvSpPr>
          <p:cNvPr id="56" name="Rectangle: Rounded Corners 55">
            <a:extLst>
              <a:ext uri="{FF2B5EF4-FFF2-40B4-BE49-F238E27FC236}">
                <a16:creationId xmlns:a16="http://schemas.microsoft.com/office/drawing/2014/main" id="{AD58168D-49C0-4C12-A556-0EC3BA45A0C4}"/>
              </a:ext>
            </a:extLst>
          </p:cNvPr>
          <p:cNvSpPr>
            <a:spLocks noGrp="1"/>
          </p:cNvSpPr>
          <p:nvPr/>
        </p:nvSpPr>
        <p:spPr>
          <a:xfrm>
            <a:off x="10115550" y="4324350"/>
            <a:ext cx="1676400" cy="1619250"/>
          </a:xfrm>
          <a:prstGeom prst="roundRect">
            <a:avLst>
              <a:gd name="adj" fmla="val 5882"/>
            </a:avLst>
          </a:prstGeom>
          <a:solidFill>
            <a:srgbClr val="E4F4F3"/>
          </a:solidFill>
          <a:ln w="9525">
            <a:solidFill>
              <a:srgbClr val="238C8C"/>
            </a:solidFill>
            <a:prstDash val="solid"/>
          </a:ln>
        </p:spPr>
        <p:txBody>
          <a:bodyPr/>
          <a:lstStyle/>
          <a:p>
            <a:endParaRPr lang="en-CA"/>
          </a:p>
        </p:txBody>
      </p:sp>
      <p:sp>
        <p:nvSpPr>
          <p:cNvPr id="57" name="Rectangle 56">
            <a:extLst>
              <a:ext uri="{FF2B5EF4-FFF2-40B4-BE49-F238E27FC236}">
                <a16:creationId xmlns:a16="http://schemas.microsoft.com/office/drawing/2014/main" id="{8FA13DAF-63BD-4EDA-BFD7-1493AE4A214D}"/>
              </a:ext>
            </a:extLst>
          </p:cNvPr>
          <p:cNvSpPr>
            <a:spLocks noGrp="1"/>
          </p:cNvSpPr>
          <p:nvPr/>
        </p:nvSpPr>
        <p:spPr>
          <a:xfrm>
            <a:off x="10229850" y="4419600"/>
            <a:ext cx="1447800" cy="238125"/>
          </a:xfrm>
          <a:prstGeom prst="rect">
            <a:avLst/>
          </a:prstGeom>
          <a:noFill/>
          <a:ln w="0">
            <a:noFill/>
          </a:ln>
        </p:spPr>
        <p:txBody>
          <a:bodyPr wrap="square" lIns="0" tIns="0" rIns="0" bIns="0" anchor="ctr">
            <a:normAutofit/>
          </a:bodyPr>
          <a:lstStyle/>
          <a:p>
            <a:pPr algn="l">
              <a:defRPr sz="1350" b="1">
                <a:solidFill>
                  <a:srgbClr val="15283B"/>
                </a:solidFill>
                <a:latin typeface="DejaVu Sans"/>
                <a:ea typeface="DejaVu Sans"/>
                <a:cs typeface="DejaVu Sans"/>
              </a:defRPr>
            </a:pPr>
            <a:r>
              <a:rPr sz="1350" b="1">
                <a:solidFill>
                  <a:srgbClr val="15283B"/>
                </a:solidFill>
                <a:latin typeface="DejaVu Sans"/>
                <a:ea typeface="DejaVu Sans"/>
                <a:cs typeface="DejaVu Sans"/>
              </a:rPr>
              <a:t>Software</a:t>
            </a:r>
          </a:p>
        </p:txBody>
      </p:sp>
      <p:sp>
        <p:nvSpPr>
          <p:cNvPr id="58" name="Rectangle 57">
            <a:extLst>
              <a:ext uri="{FF2B5EF4-FFF2-40B4-BE49-F238E27FC236}">
                <a16:creationId xmlns:a16="http://schemas.microsoft.com/office/drawing/2014/main" id="{AD845B5A-5290-4137-8395-9BE7761CA100}"/>
              </a:ext>
            </a:extLst>
          </p:cNvPr>
          <p:cNvSpPr>
            <a:spLocks noGrp="1"/>
          </p:cNvSpPr>
          <p:nvPr/>
        </p:nvSpPr>
        <p:spPr>
          <a:xfrm>
            <a:off x="10229850" y="4686300"/>
            <a:ext cx="1447800" cy="1181100"/>
          </a:xfrm>
          <a:prstGeom prst="rect">
            <a:avLst/>
          </a:prstGeom>
          <a:noFill/>
          <a:ln w="0">
            <a:noFill/>
          </a:ln>
        </p:spPr>
        <p:txBody>
          <a:bodyPr wrap="square" lIns="0" tIns="0" rIns="0" bIns="0" anchor="t">
            <a:normAutofit/>
          </a:bodyPr>
          <a:lstStyle/>
          <a:p>
            <a:pPr algn="l">
              <a:defRPr sz="1163" b="0">
                <a:solidFill>
                  <a:srgbClr val="5F7182"/>
                </a:solidFill>
                <a:latin typeface="DejaVu Sans"/>
                <a:ea typeface="DejaVu Sans"/>
                <a:cs typeface="DejaVu Sans"/>
              </a:defRPr>
            </a:pPr>
            <a:r>
              <a:rPr sz="1163" b="0">
                <a:solidFill>
                  <a:srgbClr val="5F7182"/>
                </a:solidFill>
                <a:latin typeface="DejaVu Sans"/>
                <a:ea typeface="DejaVu Sans"/>
                <a:cs typeface="DejaVu Sans"/>
              </a:rPr>
              <a:t>Check lineage before submission; draft RT open-position section</a:t>
            </a:r>
          </a:p>
        </p:txBody>
      </p:sp>
      <p:cxnSp>
        <p:nvCxnSpPr>
          <p:cNvPr id="122" name="Straight Arrow Connector 121"/>
          <p:cNvCxnSpPr>
            <a:stCxn id="53" idx="2"/>
            <a:endCxn id="56" idx="0"/>
          </p:cNvCxnSpPr>
          <p:nvPr/>
        </p:nvCxnSpPr>
        <p:spPr>
          <a:xfrm>
            <a:off x="10953750" y="3714750"/>
            <a:ext cx="0" cy="609600"/>
          </a:xfrm>
          <a:prstGeom prst="straightConnector1">
            <a:avLst/>
          </a:prstGeom>
          <a:ln w="14288">
            <a:solidFill>
              <a:srgbClr val="5F7182"/>
            </a:solidFill>
            <a:prstDash val="solid"/>
            <a:headEnd type="none" w="med" len="med"/>
            <a:tailEnd type="diamond" w="sm" len="sm"/>
          </a:ln>
        </p:spPr>
      </p:cxnSp>
      <p:cxnSp>
        <p:nvCxnSpPr>
          <p:cNvPr id="123" name="Straight Arrow Connector 122"/>
          <p:cNvCxnSpPr>
            <a:stCxn id="43" idx="3"/>
            <a:endCxn id="53" idx="1"/>
          </p:cNvCxnSpPr>
          <p:nvPr/>
        </p:nvCxnSpPr>
        <p:spPr>
          <a:xfrm>
            <a:off x="9906000" y="2905125"/>
            <a:ext cx="209550" cy="0"/>
          </a:xfrm>
          <a:prstGeom prst="straightConnector1">
            <a:avLst/>
          </a:prstGeom>
          <a:ln w="14288">
            <a:solidFill>
              <a:srgbClr val="12355B"/>
            </a:solidFill>
            <a:prstDash val="solid"/>
            <a:headEnd type="none" w="med" len="med"/>
            <a:tailEnd type="triangle" w="sm" len="sm"/>
          </a:ln>
        </p:spPr>
      </p:cxnSp>
      <p:cxnSp>
        <p:nvCxnSpPr>
          <p:cNvPr id="124" name="Straight Arrow Connector 123"/>
          <p:cNvCxnSpPr>
            <a:stCxn id="46" idx="3"/>
            <a:endCxn id="56" idx="1"/>
          </p:cNvCxnSpPr>
          <p:nvPr/>
        </p:nvCxnSpPr>
        <p:spPr>
          <a:xfrm>
            <a:off x="9906000" y="5133975"/>
            <a:ext cx="209550" cy="0"/>
          </a:xfrm>
          <a:prstGeom prst="straightConnector1">
            <a:avLst/>
          </a:prstGeom>
          <a:ln w="14288">
            <a:solidFill>
              <a:srgbClr val="238C8C"/>
            </a:solidFill>
            <a:prstDash val="solid"/>
            <a:headEnd type="none" w="med" len="med"/>
            <a:tailEnd type="triangle" w="sm" len="sm"/>
          </a:ln>
        </p:spPr>
      </p:cxnSp>
      <p:sp>
        <p:nvSpPr>
          <p:cNvPr id="62" name="Rectangle 61">
            <a:extLst>
              <a:ext uri="{FF2B5EF4-FFF2-40B4-BE49-F238E27FC236}">
                <a16:creationId xmlns:a16="http://schemas.microsoft.com/office/drawing/2014/main" id="{2F344420-BC29-48A9-A9CD-3737231E5F5C}"/>
              </a:ext>
            </a:extLst>
          </p:cNvPr>
          <p:cNvSpPr>
            <a:spLocks noGrp="1"/>
          </p:cNvSpPr>
          <p:nvPr/>
        </p:nvSpPr>
        <p:spPr>
          <a:xfrm>
            <a:off x="1485900" y="6229350"/>
            <a:ext cx="9220200" cy="361950"/>
          </a:xfrm>
          <a:prstGeom prst="rect">
            <a:avLst/>
          </a:prstGeom>
          <a:noFill/>
          <a:ln w="0">
            <a:noFill/>
          </a:ln>
        </p:spPr>
        <p:txBody>
          <a:bodyPr wrap="square" lIns="0" tIns="0" rIns="0" bIns="0" anchor="t">
            <a:normAutofit fontScale="79167"/>
          </a:bodyPr>
          <a:lstStyle/>
          <a:p>
            <a:pPr algn="ctr">
              <a:defRPr sz="1500" b="1">
                <a:solidFill>
                  <a:srgbClr val="B42318"/>
                </a:solidFill>
                <a:latin typeface="DejaVu Sans"/>
                <a:ea typeface="DejaVu Sans"/>
                <a:cs typeface="DejaVu Sans"/>
              </a:defRPr>
            </a:pPr>
            <a:r>
              <a:rPr sz="1500" b="1">
                <a:solidFill>
                  <a:srgbClr val="B42318"/>
                </a:solidFill>
                <a:latin typeface="DejaVu Sans"/>
                <a:ea typeface="DejaVu Sans"/>
                <a:cs typeface="DejaVu Sans"/>
              </a:rPr>
              <a:t>Forward validation runs throughout: no schedule, bid, transmission action or tag loses its connection to the underlying trades.</a:t>
            </a:r>
          </a:p>
        </p:txBody>
      </p:sp>
      <p:sp>
        <p:nvSpPr>
          <p:cNvPr id="63" name="Rectangle 62">
            <a:extLst>
              <a:ext uri="{FF2B5EF4-FFF2-40B4-BE49-F238E27FC236}">
                <a16:creationId xmlns:a16="http://schemas.microsoft.com/office/drawing/2014/main" id="{1F3A2B7B-7092-4ED7-827C-DA4BC5CA0A1C}"/>
              </a:ext>
            </a:extLst>
          </p:cNvPr>
          <p:cNvSpPr>
            <a:spLocks noGrp="1"/>
          </p:cNvSpPr>
          <p:nvPr/>
        </p:nvSpPr>
        <p:spPr>
          <a:xfrm>
            <a:off x="11106150" y="6534150"/>
            <a:ext cx="476250" cy="171450"/>
          </a:xfrm>
          <a:prstGeom prst="rect">
            <a:avLst/>
          </a:prstGeom>
          <a:noFill/>
          <a:ln w="0">
            <a:noFill/>
          </a:ln>
        </p:spPr>
        <p:txBody>
          <a:bodyPr wrap="square" lIns="0" tIns="0" rIns="0" bIns="0" anchor="t">
            <a:normAutofit/>
          </a:bodyPr>
          <a:lstStyle/>
          <a:p>
            <a:pPr algn="r">
              <a:defRPr sz="975" b="0">
                <a:solidFill>
                  <a:srgbClr val="5F7182"/>
                </a:solidFill>
                <a:latin typeface="DejaVu Sans"/>
                <a:ea typeface="DejaVu Sans"/>
                <a:cs typeface="DejaVu Sans"/>
              </a:defRPr>
            </a:pPr>
            <a:r>
              <a:rPr sz="975" b="0">
                <a:solidFill>
                  <a:srgbClr val="5F7182"/>
                </a:solidFill>
                <a:latin typeface="DejaVu Sans"/>
                <a:ea typeface="DejaVu Sans"/>
                <a:cs typeface="DejaVu Sans"/>
              </a:rPr>
              <a:t>05</a:t>
            </a:r>
          </a:p>
        </p:txBody>
      </p:sp>
    </p:spTree>
    <p:extLst>
      <p:ext uri="{BB962C8B-B14F-4D97-AF65-F5344CB8AC3E}">
        <p14:creationId xmlns:p14="http://schemas.microsoft.com/office/powerpoint/2010/main" val="852496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1FFD109-4670-4238-B492-01235CA714FD}"/>
              </a:ext>
            </a:extLst>
          </p:cNvPr>
          <p:cNvSpPr>
            <a:spLocks noGrp="1"/>
          </p:cNvSpPr>
          <p:nvPr/>
        </p:nvSpPr>
        <p:spPr>
          <a:xfrm>
            <a:off x="609600" y="323850"/>
            <a:ext cx="10972800" cy="495300"/>
          </a:xfrm>
          <a:prstGeom prst="rect">
            <a:avLst/>
          </a:prstGeom>
          <a:noFill/>
          <a:ln w="0">
            <a:noFill/>
          </a:ln>
        </p:spPr>
        <p:txBody>
          <a:bodyPr wrap="square" lIns="0" tIns="0" rIns="0" bIns="0" anchor="ctr">
            <a:normAutofit/>
          </a:bodyPr>
          <a:lstStyle/>
          <a:p>
            <a:pPr algn="l">
              <a:defRPr sz="3000" b="1">
                <a:solidFill>
                  <a:srgbClr val="12355B"/>
                </a:solidFill>
                <a:latin typeface="DejaVu Sans"/>
                <a:ea typeface="DejaVu Sans"/>
                <a:cs typeface="DejaVu Sans"/>
              </a:defRPr>
            </a:pPr>
            <a:r>
              <a:rPr sz="3000" b="1">
                <a:solidFill>
                  <a:srgbClr val="12355B"/>
                </a:solidFill>
                <a:latin typeface="DejaVu Sans"/>
                <a:ea typeface="DejaVu Sans"/>
                <a:cs typeface="DejaVu Sans"/>
              </a:rPr>
              <a:t>Automation boundary and success measures</a:t>
            </a:r>
          </a:p>
        </p:txBody>
      </p:sp>
      <p:sp>
        <p:nvSpPr>
          <p:cNvPr id="2" name="Rectangle 1">
            <a:extLst>
              <a:ext uri="{FF2B5EF4-FFF2-40B4-BE49-F238E27FC236}">
                <a16:creationId xmlns:a16="http://schemas.microsoft.com/office/drawing/2014/main" id="{351B017C-FC01-4B23-9104-66025B95358B}"/>
              </a:ext>
            </a:extLst>
          </p:cNvPr>
          <p:cNvSpPr>
            <a:spLocks noGrp="1"/>
          </p:cNvSpPr>
          <p:nvPr/>
        </p:nvSpPr>
        <p:spPr>
          <a:xfrm>
            <a:off x="628650" y="819150"/>
            <a:ext cx="10934700" cy="285750"/>
          </a:xfrm>
          <a:prstGeom prst="rect">
            <a:avLst/>
          </a:prstGeom>
          <a:noFill/>
          <a:ln w="0">
            <a:noFill/>
          </a:ln>
        </p:spPr>
        <p:txBody>
          <a:bodyPr wrap="square" lIns="0" tIns="0" rIns="0" bIns="0" anchor="t">
            <a:normAutofit/>
          </a:bodyPr>
          <a:lstStyle/>
          <a:p>
            <a:pPr algn="l">
              <a:defRPr sz="1350" b="0">
                <a:solidFill>
                  <a:srgbClr val="5F7182"/>
                </a:solidFill>
                <a:latin typeface="DejaVu Sans"/>
                <a:ea typeface="DejaVu Sans"/>
                <a:cs typeface="DejaVu Sans"/>
              </a:defRPr>
            </a:pPr>
            <a:r>
              <a:rPr sz="1350" b="0">
                <a:solidFill>
                  <a:srgbClr val="5F7182"/>
                </a:solidFill>
                <a:latin typeface="DejaVu Sans"/>
                <a:ea typeface="DejaVu Sans"/>
                <a:cs typeface="DejaVu Sans"/>
              </a:rPr>
              <a:t>The design should reduce scheduling effort without hiding commercial choices or operational exceptions</a:t>
            </a:r>
          </a:p>
        </p:txBody>
      </p:sp>
      <p:sp>
        <p:nvSpPr>
          <p:cNvPr id="3" name="Straight Connector 2">
            <a:extLst>
              <a:ext uri="{FF2B5EF4-FFF2-40B4-BE49-F238E27FC236}">
                <a16:creationId xmlns:a16="http://schemas.microsoft.com/office/drawing/2014/main" id="{9F339BF3-3BAA-41E5-B7C1-670AEE80570C}"/>
              </a:ext>
            </a:extLst>
          </p:cNvPr>
          <p:cNvSpPr>
            <a:spLocks noGrp="1"/>
          </p:cNvSpPr>
          <p:nvPr/>
        </p:nvSpPr>
        <p:spPr>
          <a:xfrm>
            <a:off x="609600" y="1162050"/>
            <a:ext cx="10972800" cy="0"/>
          </a:xfrm>
          <a:prstGeom prst="line">
            <a:avLst/>
          </a:prstGeom>
          <a:noFill/>
          <a:ln w="9525">
            <a:solidFill>
              <a:srgbClr val="E3E9EF"/>
            </a:solidFill>
            <a:prstDash val="solid"/>
          </a:ln>
        </p:spPr>
        <p:txBody>
          <a:bodyPr/>
          <a:lstStyle/>
          <a:p>
            <a:endParaRPr lang="en-CA"/>
          </a:p>
        </p:txBody>
      </p:sp>
      <p:sp>
        <p:nvSpPr>
          <p:cNvPr id="4" name="Rectangle 3">
            <a:extLst>
              <a:ext uri="{FF2B5EF4-FFF2-40B4-BE49-F238E27FC236}">
                <a16:creationId xmlns:a16="http://schemas.microsoft.com/office/drawing/2014/main" id="{EE57B9B2-37BD-4D55-9E20-100903FD0437}"/>
              </a:ext>
            </a:extLst>
          </p:cNvPr>
          <p:cNvSpPr>
            <a:spLocks noGrp="1"/>
          </p:cNvSpPr>
          <p:nvPr/>
        </p:nvSpPr>
        <p:spPr>
          <a:xfrm>
            <a:off x="685800" y="1504950"/>
            <a:ext cx="4762500" cy="266700"/>
          </a:xfrm>
          <a:prstGeom prst="rect">
            <a:avLst/>
          </a:prstGeom>
          <a:noFill/>
          <a:ln w="0">
            <a:noFill/>
          </a:ln>
        </p:spPr>
        <p:txBody>
          <a:bodyPr wrap="square" lIns="0" tIns="0" rIns="0" bIns="0" anchor="t">
            <a:normAutofit/>
          </a:bodyPr>
          <a:lstStyle/>
          <a:p>
            <a:pPr algn="l">
              <a:defRPr sz="1275" b="1">
                <a:solidFill>
                  <a:srgbClr val="238C8C"/>
                </a:solidFill>
                <a:latin typeface="DejaVu Sans"/>
                <a:ea typeface="DejaVu Sans"/>
                <a:cs typeface="DejaVu Sans"/>
              </a:defRPr>
            </a:pPr>
            <a:r>
              <a:rPr sz="1275" b="1">
                <a:solidFill>
                  <a:srgbClr val="238C8C"/>
                </a:solidFill>
                <a:latin typeface="DejaVu Sans"/>
                <a:ea typeface="DejaVu Sans"/>
                <a:cs typeface="DejaVu Sans"/>
              </a:rPr>
              <a:t>SOFTWARE SHOULD HANDLE</a:t>
            </a:r>
          </a:p>
        </p:txBody>
      </p:sp>
      <p:sp>
        <p:nvSpPr>
          <p:cNvPr id="5" name="Oval 4">
            <a:extLst>
              <a:ext uri="{FF2B5EF4-FFF2-40B4-BE49-F238E27FC236}">
                <a16:creationId xmlns:a16="http://schemas.microsoft.com/office/drawing/2014/main" id="{B21554A7-46F6-406F-ABF8-D96B29852EE5}"/>
              </a:ext>
            </a:extLst>
          </p:cNvPr>
          <p:cNvSpPr>
            <a:spLocks noGrp="1"/>
          </p:cNvSpPr>
          <p:nvPr/>
        </p:nvSpPr>
        <p:spPr>
          <a:xfrm>
            <a:off x="723900" y="1943100"/>
            <a:ext cx="266700" cy="266700"/>
          </a:xfrm>
          <a:prstGeom prst="ellipse">
            <a:avLst/>
          </a:prstGeom>
          <a:solidFill>
            <a:srgbClr val="238C8C"/>
          </a:solidFill>
          <a:ln w="9525">
            <a:solidFill>
              <a:srgbClr val="238C8C"/>
            </a:solidFill>
            <a:prstDash val="solid"/>
          </a:ln>
        </p:spPr>
        <p:txBody>
          <a:bodyPr/>
          <a:lstStyle/>
          <a:p>
            <a:endParaRPr lang="en-CA"/>
          </a:p>
        </p:txBody>
      </p:sp>
      <p:sp>
        <p:nvSpPr>
          <p:cNvPr id="6" name="Rectangle 5">
            <a:extLst>
              <a:ext uri="{FF2B5EF4-FFF2-40B4-BE49-F238E27FC236}">
                <a16:creationId xmlns:a16="http://schemas.microsoft.com/office/drawing/2014/main" id="{5828902D-56AA-45D2-980F-B4C780234AAE}"/>
              </a:ext>
            </a:extLst>
          </p:cNvPr>
          <p:cNvSpPr>
            <a:spLocks noGrp="1"/>
          </p:cNvSpPr>
          <p:nvPr/>
        </p:nvSpPr>
        <p:spPr>
          <a:xfrm>
            <a:off x="723900" y="195262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1</a:t>
            </a:r>
          </a:p>
        </p:txBody>
      </p:sp>
      <p:sp>
        <p:nvSpPr>
          <p:cNvPr id="7" name="Rectangle 6">
            <a:extLst>
              <a:ext uri="{FF2B5EF4-FFF2-40B4-BE49-F238E27FC236}">
                <a16:creationId xmlns:a16="http://schemas.microsoft.com/office/drawing/2014/main" id="{3A45BF58-746A-44CD-A7FF-531D9600036F}"/>
              </a:ext>
            </a:extLst>
          </p:cNvPr>
          <p:cNvSpPr>
            <a:spLocks noGrp="1"/>
          </p:cNvSpPr>
          <p:nvPr/>
        </p:nvSpPr>
        <p:spPr>
          <a:xfrm>
            <a:off x="1104900" y="1971675"/>
            <a:ext cx="447675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Capture term and ICE trades in near real time</a:t>
            </a:r>
          </a:p>
        </p:txBody>
      </p:sp>
      <p:sp>
        <p:nvSpPr>
          <p:cNvPr id="8" name="Oval 7">
            <a:extLst>
              <a:ext uri="{FF2B5EF4-FFF2-40B4-BE49-F238E27FC236}">
                <a16:creationId xmlns:a16="http://schemas.microsoft.com/office/drawing/2014/main" id="{D9F80AC7-2182-4155-A84F-D19B5025D221}"/>
              </a:ext>
            </a:extLst>
          </p:cNvPr>
          <p:cNvSpPr>
            <a:spLocks noGrp="1"/>
          </p:cNvSpPr>
          <p:nvPr/>
        </p:nvSpPr>
        <p:spPr>
          <a:xfrm>
            <a:off x="723900" y="2486025"/>
            <a:ext cx="266700" cy="266700"/>
          </a:xfrm>
          <a:prstGeom prst="ellipse">
            <a:avLst/>
          </a:prstGeom>
          <a:solidFill>
            <a:srgbClr val="238C8C"/>
          </a:solidFill>
          <a:ln w="9525">
            <a:solidFill>
              <a:srgbClr val="238C8C"/>
            </a:solidFill>
            <a:prstDash val="solid"/>
          </a:ln>
        </p:spPr>
        <p:txBody>
          <a:bodyPr/>
          <a:lstStyle/>
          <a:p>
            <a:endParaRPr lang="en-CA"/>
          </a:p>
        </p:txBody>
      </p:sp>
      <p:sp>
        <p:nvSpPr>
          <p:cNvPr id="9" name="Rectangle 8">
            <a:extLst>
              <a:ext uri="{FF2B5EF4-FFF2-40B4-BE49-F238E27FC236}">
                <a16:creationId xmlns:a16="http://schemas.microsoft.com/office/drawing/2014/main" id="{28E74336-A2C0-4CEC-8FFB-41B6EE6EE178}"/>
              </a:ext>
            </a:extLst>
          </p:cNvPr>
          <p:cNvSpPr>
            <a:spLocks noGrp="1"/>
          </p:cNvSpPr>
          <p:nvPr/>
        </p:nvSpPr>
        <p:spPr>
          <a:xfrm>
            <a:off x="723900" y="249555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2</a:t>
            </a:r>
          </a:p>
        </p:txBody>
      </p:sp>
      <p:sp>
        <p:nvSpPr>
          <p:cNvPr id="10" name="Rectangle 9">
            <a:extLst>
              <a:ext uri="{FF2B5EF4-FFF2-40B4-BE49-F238E27FC236}">
                <a16:creationId xmlns:a16="http://schemas.microsoft.com/office/drawing/2014/main" id="{8F12DF59-FE0C-43D2-AE75-6474255575EB}"/>
              </a:ext>
            </a:extLst>
          </p:cNvPr>
          <p:cNvSpPr>
            <a:spLocks noGrp="1"/>
          </p:cNvSpPr>
          <p:nvPr/>
        </p:nvSpPr>
        <p:spPr>
          <a:xfrm>
            <a:off x="1104900" y="2514600"/>
            <a:ext cx="447675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Maintain many-to-many allocation by hour and MW</a:t>
            </a:r>
          </a:p>
        </p:txBody>
      </p:sp>
      <p:sp>
        <p:nvSpPr>
          <p:cNvPr id="11" name="Oval 10">
            <a:extLst>
              <a:ext uri="{FF2B5EF4-FFF2-40B4-BE49-F238E27FC236}">
                <a16:creationId xmlns:a16="http://schemas.microsoft.com/office/drawing/2014/main" id="{8CAAA848-FC9B-4E1D-B1BC-51BB4C13F59A}"/>
              </a:ext>
            </a:extLst>
          </p:cNvPr>
          <p:cNvSpPr>
            <a:spLocks noGrp="1"/>
          </p:cNvSpPr>
          <p:nvPr/>
        </p:nvSpPr>
        <p:spPr>
          <a:xfrm>
            <a:off x="723900" y="3028950"/>
            <a:ext cx="266700" cy="266700"/>
          </a:xfrm>
          <a:prstGeom prst="ellipse">
            <a:avLst/>
          </a:prstGeom>
          <a:solidFill>
            <a:srgbClr val="238C8C"/>
          </a:solidFill>
          <a:ln w="9525">
            <a:solidFill>
              <a:srgbClr val="238C8C"/>
            </a:solidFill>
            <a:prstDash val="solid"/>
          </a:ln>
        </p:spPr>
        <p:txBody>
          <a:bodyPr/>
          <a:lstStyle/>
          <a:p>
            <a:endParaRPr lang="en-CA"/>
          </a:p>
        </p:txBody>
      </p:sp>
      <p:sp>
        <p:nvSpPr>
          <p:cNvPr id="12" name="Rectangle 11">
            <a:extLst>
              <a:ext uri="{FF2B5EF4-FFF2-40B4-BE49-F238E27FC236}">
                <a16:creationId xmlns:a16="http://schemas.microsoft.com/office/drawing/2014/main" id="{B53BAB1C-FED0-4FEF-BCD0-1AF8B75FC44A}"/>
              </a:ext>
            </a:extLst>
          </p:cNvPr>
          <p:cNvSpPr>
            <a:spLocks noGrp="1"/>
          </p:cNvSpPr>
          <p:nvPr/>
        </p:nvSpPr>
        <p:spPr>
          <a:xfrm>
            <a:off x="723900" y="303847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3</a:t>
            </a:r>
          </a:p>
        </p:txBody>
      </p:sp>
      <p:sp>
        <p:nvSpPr>
          <p:cNvPr id="13" name="Rectangle 12">
            <a:extLst>
              <a:ext uri="{FF2B5EF4-FFF2-40B4-BE49-F238E27FC236}">
                <a16:creationId xmlns:a16="http://schemas.microsoft.com/office/drawing/2014/main" id="{85B48F09-CB56-4672-B429-1E7219916CF8}"/>
              </a:ext>
            </a:extLst>
          </p:cNvPr>
          <p:cNvSpPr>
            <a:spLocks noGrp="1"/>
          </p:cNvSpPr>
          <p:nvPr/>
        </p:nvSpPr>
        <p:spPr>
          <a:xfrm>
            <a:off x="1104900" y="3057525"/>
            <a:ext cx="447675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Generate daily bid and E-Tag Excel files</a:t>
            </a:r>
          </a:p>
        </p:txBody>
      </p:sp>
      <p:sp>
        <p:nvSpPr>
          <p:cNvPr id="14" name="Oval 13">
            <a:extLst>
              <a:ext uri="{FF2B5EF4-FFF2-40B4-BE49-F238E27FC236}">
                <a16:creationId xmlns:a16="http://schemas.microsoft.com/office/drawing/2014/main" id="{B3B5FAEA-B79B-461B-AADB-7F9C5A1BED83}"/>
              </a:ext>
            </a:extLst>
          </p:cNvPr>
          <p:cNvSpPr>
            <a:spLocks noGrp="1"/>
          </p:cNvSpPr>
          <p:nvPr/>
        </p:nvSpPr>
        <p:spPr>
          <a:xfrm>
            <a:off x="723900" y="3571875"/>
            <a:ext cx="266700" cy="266700"/>
          </a:xfrm>
          <a:prstGeom prst="ellipse">
            <a:avLst/>
          </a:prstGeom>
          <a:solidFill>
            <a:srgbClr val="238C8C"/>
          </a:solidFill>
          <a:ln w="9525">
            <a:solidFill>
              <a:srgbClr val="238C8C"/>
            </a:solidFill>
            <a:prstDash val="solid"/>
          </a:ln>
        </p:spPr>
        <p:txBody>
          <a:bodyPr/>
          <a:lstStyle/>
          <a:p>
            <a:endParaRPr lang="en-CA"/>
          </a:p>
        </p:txBody>
      </p:sp>
      <p:sp>
        <p:nvSpPr>
          <p:cNvPr id="15" name="Rectangle 14">
            <a:extLst>
              <a:ext uri="{FF2B5EF4-FFF2-40B4-BE49-F238E27FC236}">
                <a16:creationId xmlns:a16="http://schemas.microsoft.com/office/drawing/2014/main" id="{F746A0F5-DD86-4A0C-9FAA-2156667242A3}"/>
              </a:ext>
            </a:extLst>
          </p:cNvPr>
          <p:cNvSpPr>
            <a:spLocks noGrp="1"/>
          </p:cNvSpPr>
          <p:nvPr/>
        </p:nvSpPr>
        <p:spPr>
          <a:xfrm>
            <a:off x="723900" y="358140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4</a:t>
            </a:r>
          </a:p>
        </p:txBody>
      </p:sp>
      <p:sp>
        <p:nvSpPr>
          <p:cNvPr id="16" name="Rectangle 15">
            <a:extLst>
              <a:ext uri="{FF2B5EF4-FFF2-40B4-BE49-F238E27FC236}">
                <a16:creationId xmlns:a16="http://schemas.microsoft.com/office/drawing/2014/main" id="{F93579AB-B4F5-4079-96E5-2FB75DA90F0B}"/>
              </a:ext>
            </a:extLst>
          </p:cNvPr>
          <p:cNvSpPr>
            <a:spLocks noGrp="1"/>
          </p:cNvSpPr>
          <p:nvPr/>
        </p:nvSpPr>
        <p:spPr>
          <a:xfrm>
            <a:off x="1104900" y="3600450"/>
            <a:ext cx="4476750" cy="295275"/>
          </a:xfrm>
          <a:prstGeom prst="rect">
            <a:avLst/>
          </a:prstGeom>
          <a:noFill/>
          <a:ln w="0">
            <a:noFill/>
          </a:ln>
        </p:spPr>
        <p:txBody>
          <a:bodyPr wrap="square" lIns="0" tIns="0" rIns="0" bIns="0" anchor="t">
            <a:normAutofit fontScale="83942"/>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Detect transmission needs and prepare reservations or robots</a:t>
            </a:r>
          </a:p>
        </p:txBody>
      </p:sp>
      <p:sp>
        <p:nvSpPr>
          <p:cNvPr id="17" name="Oval 16">
            <a:extLst>
              <a:ext uri="{FF2B5EF4-FFF2-40B4-BE49-F238E27FC236}">
                <a16:creationId xmlns:a16="http://schemas.microsoft.com/office/drawing/2014/main" id="{B44EC6EB-FF23-4CF1-B561-AF444A92D7F7}"/>
              </a:ext>
            </a:extLst>
          </p:cNvPr>
          <p:cNvSpPr>
            <a:spLocks noGrp="1"/>
          </p:cNvSpPr>
          <p:nvPr/>
        </p:nvSpPr>
        <p:spPr>
          <a:xfrm>
            <a:off x="723900" y="4114800"/>
            <a:ext cx="266700" cy="266700"/>
          </a:xfrm>
          <a:prstGeom prst="ellipse">
            <a:avLst/>
          </a:prstGeom>
          <a:solidFill>
            <a:srgbClr val="238C8C"/>
          </a:solidFill>
          <a:ln w="9525">
            <a:solidFill>
              <a:srgbClr val="238C8C"/>
            </a:solidFill>
            <a:prstDash val="solid"/>
          </a:ln>
        </p:spPr>
        <p:txBody>
          <a:bodyPr/>
          <a:lstStyle/>
          <a:p>
            <a:endParaRPr lang="en-CA"/>
          </a:p>
        </p:txBody>
      </p:sp>
      <p:sp>
        <p:nvSpPr>
          <p:cNvPr id="18" name="Rectangle 17">
            <a:extLst>
              <a:ext uri="{FF2B5EF4-FFF2-40B4-BE49-F238E27FC236}">
                <a16:creationId xmlns:a16="http://schemas.microsoft.com/office/drawing/2014/main" id="{A00D6DDA-2D96-4538-8C73-590FAD164563}"/>
              </a:ext>
            </a:extLst>
          </p:cNvPr>
          <p:cNvSpPr>
            <a:spLocks noGrp="1"/>
          </p:cNvSpPr>
          <p:nvPr/>
        </p:nvSpPr>
        <p:spPr>
          <a:xfrm>
            <a:off x="723900" y="412432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5</a:t>
            </a:r>
          </a:p>
        </p:txBody>
      </p:sp>
      <p:sp>
        <p:nvSpPr>
          <p:cNvPr id="19" name="Rectangle 18">
            <a:extLst>
              <a:ext uri="{FF2B5EF4-FFF2-40B4-BE49-F238E27FC236}">
                <a16:creationId xmlns:a16="http://schemas.microsoft.com/office/drawing/2014/main" id="{12DBCAD8-DD36-47E8-A5DC-6F11C79E54C3}"/>
              </a:ext>
            </a:extLst>
          </p:cNvPr>
          <p:cNvSpPr>
            <a:spLocks noGrp="1"/>
          </p:cNvSpPr>
          <p:nvPr/>
        </p:nvSpPr>
        <p:spPr>
          <a:xfrm>
            <a:off x="1104900" y="4143375"/>
            <a:ext cx="447675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Parse path strings from ICE Chat</a:t>
            </a:r>
          </a:p>
        </p:txBody>
      </p:sp>
      <p:sp>
        <p:nvSpPr>
          <p:cNvPr id="20" name="Oval 19">
            <a:extLst>
              <a:ext uri="{FF2B5EF4-FFF2-40B4-BE49-F238E27FC236}">
                <a16:creationId xmlns:a16="http://schemas.microsoft.com/office/drawing/2014/main" id="{9BFC1233-0E17-4BF9-801F-D777BC122404}"/>
              </a:ext>
            </a:extLst>
          </p:cNvPr>
          <p:cNvSpPr>
            <a:spLocks noGrp="1"/>
          </p:cNvSpPr>
          <p:nvPr/>
        </p:nvSpPr>
        <p:spPr>
          <a:xfrm>
            <a:off x="723900" y="4657725"/>
            <a:ext cx="266700" cy="266700"/>
          </a:xfrm>
          <a:prstGeom prst="ellipse">
            <a:avLst/>
          </a:prstGeom>
          <a:solidFill>
            <a:srgbClr val="238C8C"/>
          </a:solidFill>
          <a:ln w="9525">
            <a:solidFill>
              <a:srgbClr val="238C8C"/>
            </a:solidFill>
            <a:prstDash val="solid"/>
          </a:ln>
        </p:spPr>
        <p:txBody>
          <a:bodyPr/>
          <a:lstStyle/>
          <a:p>
            <a:endParaRPr lang="en-CA"/>
          </a:p>
        </p:txBody>
      </p:sp>
      <p:sp>
        <p:nvSpPr>
          <p:cNvPr id="21" name="Rectangle 20">
            <a:extLst>
              <a:ext uri="{FF2B5EF4-FFF2-40B4-BE49-F238E27FC236}">
                <a16:creationId xmlns:a16="http://schemas.microsoft.com/office/drawing/2014/main" id="{23431F13-2239-4FBB-91CD-414B2852311E}"/>
              </a:ext>
            </a:extLst>
          </p:cNvPr>
          <p:cNvSpPr>
            <a:spLocks noGrp="1"/>
          </p:cNvSpPr>
          <p:nvPr/>
        </p:nvSpPr>
        <p:spPr>
          <a:xfrm>
            <a:off x="723900" y="466725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6</a:t>
            </a:r>
          </a:p>
        </p:txBody>
      </p:sp>
      <p:sp>
        <p:nvSpPr>
          <p:cNvPr id="22" name="Rectangle 21">
            <a:extLst>
              <a:ext uri="{FF2B5EF4-FFF2-40B4-BE49-F238E27FC236}">
                <a16:creationId xmlns:a16="http://schemas.microsoft.com/office/drawing/2014/main" id="{254FA869-9AB4-4886-915F-D0C678C455BB}"/>
              </a:ext>
            </a:extLst>
          </p:cNvPr>
          <p:cNvSpPr>
            <a:spLocks noGrp="1"/>
          </p:cNvSpPr>
          <p:nvPr/>
        </p:nvSpPr>
        <p:spPr>
          <a:xfrm>
            <a:off x="1104900" y="4686300"/>
            <a:ext cx="4476750" cy="295275"/>
          </a:xfrm>
          <a:prstGeom prst="rect">
            <a:avLst/>
          </a:prstGeom>
          <a:noFill/>
          <a:ln w="0">
            <a:noFill/>
          </a:ln>
        </p:spPr>
        <p:txBody>
          <a:bodyPr wrap="square" lIns="0" tIns="0" rIns="0" bIns="0" anchor="t">
            <a:normAutofit fontScale="97658"/>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Run forward checks and expose unmatched residuals</a:t>
            </a:r>
          </a:p>
        </p:txBody>
      </p:sp>
      <p:sp>
        <p:nvSpPr>
          <p:cNvPr id="23" name="Oval 22">
            <a:extLst>
              <a:ext uri="{FF2B5EF4-FFF2-40B4-BE49-F238E27FC236}">
                <a16:creationId xmlns:a16="http://schemas.microsoft.com/office/drawing/2014/main" id="{F8B80934-4EB3-461E-BF90-53E443DD5DBB}"/>
              </a:ext>
            </a:extLst>
          </p:cNvPr>
          <p:cNvSpPr>
            <a:spLocks noGrp="1"/>
          </p:cNvSpPr>
          <p:nvPr/>
        </p:nvSpPr>
        <p:spPr>
          <a:xfrm>
            <a:off x="723900" y="5200650"/>
            <a:ext cx="266700" cy="266700"/>
          </a:xfrm>
          <a:prstGeom prst="ellipse">
            <a:avLst/>
          </a:prstGeom>
          <a:solidFill>
            <a:srgbClr val="238C8C"/>
          </a:solidFill>
          <a:ln w="9525">
            <a:solidFill>
              <a:srgbClr val="238C8C"/>
            </a:solidFill>
            <a:prstDash val="solid"/>
          </a:ln>
        </p:spPr>
        <p:txBody>
          <a:bodyPr/>
          <a:lstStyle/>
          <a:p>
            <a:endParaRPr lang="en-CA"/>
          </a:p>
        </p:txBody>
      </p:sp>
      <p:sp>
        <p:nvSpPr>
          <p:cNvPr id="24" name="Rectangle 23">
            <a:extLst>
              <a:ext uri="{FF2B5EF4-FFF2-40B4-BE49-F238E27FC236}">
                <a16:creationId xmlns:a16="http://schemas.microsoft.com/office/drawing/2014/main" id="{F2A36089-3CB8-4115-9C09-949D5F37D883}"/>
              </a:ext>
            </a:extLst>
          </p:cNvPr>
          <p:cNvSpPr>
            <a:spLocks noGrp="1"/>
          </p:cNvSpPr>
          <p:nvPr/>
        </p:nvSpPr>
        <p:spPr>
          <a:xfrm>
            <a:off x="723900" y="521017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7</a:t>
            </a:r>
          </a:p>
        </p:txBody>
      </p:sp>
      <p:sp>
        <p:nvSpPr>
          <p:cNvPr id="25" name="Rectangle 24">
            <a:extLst>
              <a:ext uri="{FF2B5EF4-FFF2-40B4-BE49-F238E27FC236}">
                <a16:creationId xmlns:a16="http://schemas.microsoft.com/office/drawing/2014/main" id="{F97FDECF-9BBB-4693-8566-A0E989B5FDFC}"/>
              </a:ext>
            </a:extLst>
          </p:cNvPr>
          <p:cNvSpPr>
            <a:spLocks noGrp="1"/>
          </p:cNvSpPr>
          <p:nvPr/>
        </p:nvSpPr>
        <p:spPr>
          <a:xfrm>
            <a:off x="1104900" y="5229225"/>
            <a:ext cx="4476750" cy="295275"/>
          </a:xfrm>
          <a:prstGeom prst="rect">
            <a:avLst/>
          </a:prstGeom>
          <a:noFill/>
          <a:ln w="0">
            <a:noFill/>
          </a:ln>
        </p:spPr>
        <p:txBody>
          <a:bodyPr wrap="square" lIns="0" tIns="0" rIns="0" bIns="0" anchor="t">
            <a:normAutofit fontScale="85069"/>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Create database-ready records and the RT summary skeleton</a:t>
            </a:r>
          </a:p>
        </p:txBody>
      </p:sp>
      <p:sp>
        <p:nvSpPr>
          <p:cNvPr id="26" name="Straight Connector 25">
            <a:extLst>
              <a:ext uri="{FF2B5EF4-FFF2-40B4-BE49-F238E27FC236}">
                <a16:creationId xmlns:a16="http://schemas.microsoft.com/office/drawing/2014/main" id="{9156640C-3340-4E25-9E50-8DC43ED81B5F}"/>
              </a:ext>
            </a:extLst>
          </p:cNvPr>
          <p:cNvSpPr>
            <a:spLocks noGrp="1"/>
          </p:cNvSpPr>
          <p:nvPr/>
        </p:nvSpPr>
        <p:spPr>
          <a:xfrm>
            <a:off x="5953125" y="1476375"/>
            <a:ext cx="0" cy="4333875"/>
          </a:xfrm>
          <a:prstGeom prst="line">
            <a:avLst/>
          </a:prstGeom>
          <a:noFill/>
          <a:ln w="9525">
            <a:solidFill>
              <a:srgbClr val="E3E9EF"/>
            </a:solidFill>
            <a:prstDash val="solid"/>
          </a:ln>
        </p:spPr>
        <p:txBody>
          <a:bodyPr/>
          <a:lstStyle/>
          <a:p>
            <a:endParaRPr lang="en-CA"/>
          </a:p>
        </p:txBody>
      </p:sp>
      <p:sp>
        <p:nvSpPr>
          <p:cNvPr id="27" name="Rectangle 26">
            <a:extLst>
              <a:ext uri="{FF2B5EF4-FFF2-40B4-BE49-F238E27FC236}">
                <a16:creationId xmlns:a16="http://schemas.microsoft.com/office/drawing/2014/main" id="{6C5A6C0C-E80E-4CA6-BF41-90B20F58DD2E}"/>
              </a:ext>
            </a:extLst>
          </p:cNvPr>
          <p:cNvSpPr>
            <a:spLocks noGrp="1"/>
          </p:cNvSpPr>
          <p:nvPr/>
        </p:nvSpPr>
        <p:spPr>
          <a:xfrm>
            <a:off x="6429375" y="1504950"/>
            <a:ext cx="4762500" cy="266700"/>
          </a:xfrm>
          <a:prstGeom prst="rect">
            <a:avLst/>
          </a:prstGeom>
          <a:noFill/>
          <a:ln w="0">
            <a:noFill/>
          </a:ln>
        </p:spPr>
        <p:txBody>
          <a:bodyPr wrap="square" lIns="0" tIns="0" rIns="0" bIns="0" anchor="t">
            <a:normAutofit/>
          </a:bodyPr>
          <a:lstStyle/>
          <a:p>
            <a:pPr algn="l">
              <a:defRPr sz="1275" b="1">
                <a:solidFill>
                  <a:srgbClr val="2B6CB0"/>
                </a:solidFill>
                <a:latin typeface="DejaVu Sans"/>
                <a:ea typeface="DejaVu Sans"/>
                <a:cs typeface="DejaVu Sans"/>
              </a:defRPr>
            </a:pPr>
            <a:r>
              <a:rPr sz="1275" b="1">
                <a:solidFill>
                  <a:srgbClr val="2B6CB0"/>
                </a:solidFill>
                <a:latin typeface="DejaVu Sans"/>
                <a:ea typeface="DejaVu Sans"/>
                <a:cs typeface="DejaVu Sans"/>
              </a:rPr>
              <a:t>TRADER SHOULD CONTROL</a:t>
            </a:r>
          </a:p>
        </p:txBody>
      </p:sp>
      <p:sp>
        <p:nvSpPr>
          <p:cNvPr id="28" name="Oval 27">
            <a:extLst>
              <a:ext uri="{FF2B5EF4-FFF2-40B4-BE49-F238E27FC236}">
                <a16:creationId xmlns:a16="http://schemas.microsoft.com/office/drawing/2014/main" id="{55AF6AB5-B49D-4CC8-932B-BBF3FD414930}"/>
              </a:ext>
            </a:extLst>
          </p:cNvPr>
          <p:cNvSpPr>
            <a:spLocks noGrp="1"/>
          </p:cNvSpPr>
          <p:nvPr/>
        </p:nvSpPr>
        <p:spPr>
          <a:xfrm>
            <a:off x="6477000" y="1943100"/>
            <a:ext cx="266700" cy="266700"/>
          </a:xfrm>
          <a:prstGeom prst="ellipse">
            <a:avLst/>
          </a:prstGeom>
          <a:solidFill>
            <a:srgbClr val="2B6CB0"/>
          </a:solidFill>
          <a:ln w="9525">
            <a:solidFill>
              <a:srgbClr val="2B6CB0"/>
            </a:solidFill>
            <a:prstDash val="solid"/>
          </a:ln>
        </p:spPr>
        <p:txBody>
          <a:bodyPr/>
          <a:lstStyle/>
          <a:p>
            <a:endParaRPr lang="en-CA"/>
          </a:p>
        </p:txBody>
      </p:sp>
      <p:sp>
        <p:nvSpPr>
          <p:cNvPr id="29" name="Rectangle 28">
            <a:extLst>
              <a:ext uri="{FF2B5EF4-FFF2-40B4-BE49-F238E27FC236}">
                <a16:creationId xmlns:a16="http://schemas.microsoft.com/office/drawing/2014/main" id="{D6AB515B-FC46-495C-B55B-25A358FBA546}"/>
              </a:ext>
            </a:extLst>
          </p:cNvPr>
          <p:cNvSpPr>
            <a:spLocks noGrp="1"/>
          </p:cNvSpPr>
          <p:nvPr/>
        </p:nvSpPr>
        <p:spPr>
          <a:xfrm>
            <a:off x="6477000" y="195262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1</a:t>
            </a:r>
          </a:p>
        </p:txBody>
      </p:sp>
      <p:sp>
        <p:nvSpPr>
          <p:cNvPr id="30" name="Rectangle 29">
            <a:extLst>
              <a:ext uri="{FF2B5EF4-FFF2-40B4-BE49-F238E27FC236}">
                <a16:creationId xmlns:a16="http://schemas.microsoft.com/office/drawing/2014/main" id="{DBA48190-83A5-4B73-962A-5F8DD8B4865B}"/>
              </a:ext>
            </a:extLst>
          </p:cNvPr>
          <p:cNvSpPr>
            <a:spLocks noGrp="1"/>
          </p:cNvSpPr>
          <p:nvPr/>
        </p:nvSpPr>
        <p:spPr>
          <a:xfrm>
            <a:off x="6858000" y="1971675"/>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Strategy and trade execution</a:t>
            </a:r>
          </a:p>
        </p:txBody>
      </p:sp>
      <p:sp>
        <p:nvSpPr>
          <p:cNvPr id="31" name="Oval 30">
            <a:extLst>
              <a:ext uri="{FF2B5EF4-FFF2-40B4-BE49-F238E27FC236}">
                <a16:creationId xmlns:a16="http://schemas.microsoft.com/office/drawing/2014/main" id="{8F765A77-9BC0-4B10-B373-C0A26A8F4A98}"/>
              </a:ext>
            </a:extLst>
          </p:cNvPr>
          <p:cNvSpPr>
            <a:spLocks noGrp="1"/>
          </p:cNvSpPr>
          <p:nvPr/>
        </p:nvSpPr>
        <p:spPr>
          <a:xfrm>
            <a:off x="6477000" y="2486025"/>
            <a:ext cx="266700" cy="266700"/>
          </a:xfrm>
          <a:prstGeom prst="ellipse">
            <a:avLst/>
          </a:prstGeom>
          <a:solidFill>
            <a:srgbClr val="2B6CB0"/>
          </a:solidFill>
          <a:ln w="9525">
            <a:solidFill>
              <a:srgbClr val="2B6CB0"/>
            </a:solidFill>
            <a:prstDash val="solid"/>
          </a:ln>
        </p:spPr>
        <p:txBody>
          <a:bodyPr/>
          <a:lstStyle/>
          <a:p>
            <a:endParaRPr lang="en-CA"/>
          </a:p>
        </p:txBody>
      </p:sp>
      <p:sp>
        <p:nvSpPr>
          <p:cNvPr id="32" name="Rectangle 31">
            <a:extLst>
              <a:ext uri="{FF2B5EF4-FFF2-40B4-BE49-F238E27FC236}">
                <a16:creationId xmlns:a16="http://schemas.microsoft.com/office/drawing/2014/main" id="{11EA0E1C-BD68-479E-8F28-9E8E08AE4351}"/>
              </a:ext>
            </a:extLst>
          </p:cNvPr>
          <p:cNvSpPr>
            <a:spLocks noGrp="1"/>
          </p:cNvSpPr>
          <p:nvPr/>
        </p:nvSpPr>
        <p:spPr>
          <a:xfrm>
            <a:off x="6477000" y="249555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2</a:t>
            </a:r>
          </a:p>
        </p:txBody>
      </p:sp>
      <p:sp>
        <p:nvSpPr>
          <p:cNvPr id="33" name="Rectangle 32">
            <a:extLst>
              <a:ext uri="{FF2B5EF4-FFF2-40B4-BE49-F238E27FC236}">
                <a16:creationId xmlns:a16="http://schemas.microsoft.com/office/drawing/2014/main" id="{2B06F1AC-3F66-4373-85AA-CF2A8F7E83AC}"/>
              </a:ext>
            </a:extLst>
          </p:cNvPr>
          <p:cNvSpPr>
            <a:spLocks noGrp="1"/>
          </p:cNvSpPr>
          <p:nvPr/>
        </p:nvSpPr>
        <p:spPr>
          <a:xfrm>
            <a:off x="6858000" y="2514600"/>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How positions should be matched and reshaped</a:t>
            </a:r>
          </a:p>
        </p:txBody>
      </p:sp>
      <p:sp>
        <p:nvSpPr>
          <p:cNvPr id="34" name="Oval 33">
            <a:extLst>
              <a:ext uri="{FF2B5EF4-FFF2-40B4-BE49-F238E27FC236}">
                <a16:creationId xmlns:a16="http://schemas.microsoft.com/office/drawing/2014/main" id="{036C13C8-D1E9-497E-8DDA-72D17D425AD3}"/>
              </a:ext>
            </a:extLst>
          </p:cNvPr>
          <p:cNvSpPr>
            <a:spLocks noGrp="1"/>
          </p:cNvSpPr>
          <p:nvPr/>
        </p:nvSpPr>
        <p:spPr>
          <a:xfrm>
            <a:off x="6477000" y="3028950"/>
            <a:ext cx="266700" cy="266700"/>
          </a:xfrm>
          <a:prstGeom prst="ellipse">
            <a:avLst/>
          </a:prstGeom>
          <a:solidFill>
            <a:srgbClr val="2B6CB0"/>
          </a:solidFill>
          <a:ln w="9525">
            <a:solidFill>
              <a:srgbClr val="2B6CB0"/>
            </a:solidFill>
            <a:prstDash val="solid"/>
          </a:ln>
        </p:spPr>
        <p:txBody>
          <a:bodyPr/>
          <a:lstStyle/>
          <a:p>
            <a:endParaRPr lang="en-CA"/>
          </a:p>
        </p:txBody>
      </p:sp>
      <p:sp>
        <p:nvSpPr>
          <p:cNvPr id="35" name="Rectangle 34">
            <a:extLst>
              <a:ext uri="{FF2B5EF4-FFF2-40B4-BE49-F238E27FC236}">
                <a16:creationId xmlns:a16="http://schemas.microsoft.com/office/drawing/2014/main" id="{E27050F7-59E3-4335-8637-2D442E6322AD}"/>
              </a:ext>
            </a:extLst>
          </p:cNvPr>
          <p:cNvSpPr>
            <a:spLocks noGrp="1"/>
          </p:cNvSpPr>
          <p:nvPr/>
        </p:nvSpPr>
        <p:spPr>
          <a:xfrm>
            <a:off x="6477000" y="303847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3</a:t>
            </a:r>
          </a:p>
        </p:txBody>
      </p:sp>
      <p:sp>
        <p:nvSpPr>
          <p:cNvPr id="36" name="Rectangle 35">
            <a:extLst>
              <a:ext uri="{FF2B5EF4-FFF2-40B4-BE49-F238E27FC236}">
                <a16:creationId xmlns:a16="http://schemas.microsoft.com/office/drawing/2014/main" id="{8E48111D-C718-481E-A4E4-3EB10E303CD9}"/>
              </a:ext>
            </a:extLst>
          </p:cNvPr>
          <p:cNvSpPr>
            <a:spLocks noGrp="1"/>
          </p:cNvSpPr>
          <p:nvPr/>
        </p:nvSpPr>
        <p:spPr>
          <a:xfrm>
            <a:off x="6858000" y="3057525"/>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Bid review and final market submission</a:t>
            </a:r>
          </a:p>
        </p:txBody>
      </p:sp>
      <p:sp>
        <p:nvSpPr>
          <p:cNvPr id="37" name="Oval 36">
            <a:extLst>
              <a:ext uri="{FF2B5EF4-FFF2-40B4-BE49-F238E27FC236}">
                <a16:creationId xmlns:a16="http://schemas.microsoft.com/office/drawing/2014/main" id="{4CB54D21-0CA8-4173-B7B5-F9A0FFD845C3}"/>
              </a:ext>
            </a:extLst>
          </p:cNvPr>
          <p:cNvSpPr>
            <a:spLocks noGrp="1"/>
          </p:cNvSpPr>
          <p:nvPr/>
        </p:nvSpPr>
        <p:spPr>
          <a:xfrm>
            <a:off x="6477000" y="3571875"/>
            <a:ext cx="266700" cy="266700"/>
          </a:xfrm>
          <a:prstGeom prst="ellipse">
            <a:avLst/>
          </a:prstGeom>
          <a:solidFill>
            <a:srgbClr val="2B6CB0"/>
          </a:solidFill>
          <a:ln w="9525">
            <a:solidFill>
              <a:srgbClr val="2B6CB0"/>
            </a:solidFill>
            <a:prstDash val="solid"/>
          </a:ln>
        </p:spPr>
        <p:txBody>
          <a:bodyPr/>
          <a:lstStyle/>
          <a:p>
            <a:endParaRPr lang="en-CA"/>
          </a:p>
        </p:txBody>
      </p:sp>
      <p:sp>
        <p:nvSpPr>
          <p:cNvPr id="38" name="Rectangle 37">
            <a:extLst>
              <a:ext uri="{FF2B5EF4-FFF2-40B4-BE49-F238E27FC236}">
                <a16:creationId xmlns:a16="http://schemas.microsoft.com/office/drawing/2014/main" id="{BF5486A5-3731-44DC-98BE-E5EF356A827D}"/>
              </a:ext>
            </a:extLst>
          </p:cNvPr>
          <p:cNvSpPr>
            <a:spLocks noGrp="1"/>
          </p:cNvSpPr>
          <p:nvPr/>
        </p:nvSpPr>
        <p:spPr>
          <a:xfrm>
            <a:off x="6477000" y="358140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4</a:t>
            </a:r>
          </a:p>
        </p:txBody>
      </p:sp>
      <p:sp>
        <p:nvSpPr>
          <p:cNvPr id="39" name="Rectangle 38">
            <a:extLst>
              <a:ext uri="{FF2B5EF4-FFF2-40B4-BE49-F238E27FC236}">
                <a16:creationId xmlns:a16="http://schemas.microsoft.com/office/drawing/2014/main" id="{95A82C44-7189-4C1E-AF8B-C5D3118D490F}"/>
              </a:ext>
            </a:extLst>
          </p:cNvPr>
          <p:cNvSpPr>
            <a:spLocks noGrp="1"/>
          </p:cNvSpPr>
          <p:nvPr/>
        </p:nvSpPr>
        <p:spPr>
          <a:xfrm>
            <a:off x="6858000" y="3600450"/>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Transmission choice when several options exist</a:t>
            </a:r>
          </a:p>
        </p:txBody>
      </p:sp>
      <p:sp>
        <p:nvSpPr>
          <p:cNvPr id="40" name="Oval 39">
            <a:extLst>
              <a:ext uri="{FF2B5EF4-FFF2-40B4-BE49-F238E27FC236}">
                <a16:creationId xmlns:a16="http://schemas.microsoft.com/office/drawing/2014/main" id="{4C342962-6DD2-4B87-826D-C9AAEF97BBCC}"/>
              </a:ext>
            </a:extLst>
          </p:cNvPr>
          <p:cNvSpPr>
            <a:spLocks noGrp="1"/>
          </p:cNvSpPr>
          <p:nvPr/>
        </p:nvSpPr>
        <p:spPr>
          <a:xfrm>
            <a:off x="6477000" y="4114800"/>
            <a:ext cx="266700" cy="266700"/>
          </a:xfrm>
          <a:prstGeom prst="ellipse">
            <a:avLst/>
          </a:prstGeom>
          <a:solidFill>
            <a:srgbClr val="2B6CB0"/>
          </a:solidFill>
          <a:ln w="9525">
            <a:solidFill>
              <a:srgbClr val="2B6CB0"/>
            </a:solidFill>
            <a:prstDash val="solid"/>
          </a:ln>
        </p:spPr>
        <p:txBody>
          <a:bodyPr/>
          <a:lstStyle/>
          <a:p>
            <a:endParaRPr lang="en-CA"/>
          </a:p>
        </p:txBody>
      </p:sp>
      <p:sp>
        <p:nvSpPr>
          <p:cNvPr id="41" name="Rectangle 40">
            <a:extLst>
              <a:ext uri="{FF2B5EF4-FFF2-40B4-BE49-F238E27FC236}">
                <a16:creationId xmlns:a16="http://schemas.microsoft.com/office/drawing/2014/main" id="{E1E9E77A-69BA-4CBF-BEBC-C23636894036}"/>
              </a:ext>
            </a:extLst>
          </p:cNvPr>
          <p:cNvSpPr>
            <a:spLocks noGrp="1"/>
          </p:cNvSpPr>
          <p:nvPr/>
        </p:nvSpPr>
        <p:spPr>
          <a:xfrm>
            <a:off x="6477000" y="4124325"/>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5</a:t>
            </a:r>
          </a:p>
        </p:txBody>
      </p:sp>
      <p:sp>
        <p:nvSpPr>
          <p:cNvPr id="42" name="Rectangle 41">
            <a:extLst>
              <a:ext uri="{FF2B5EF4-FFF2-40B4-BE49-F238E27FC236}">
                <a16:creationId xmlns:a16="http://schemas.microsoft.com/office/drawing/2014/main" id="{2B95CFB3-3B8A-40E6-873E-08C77E89B87A}"/>
              </a:ext>
            </a:extLst>
          </p:cNvPr>
          <p:cNvSpPr>
            <a:spLocks noGrp="1"/>
          </p:cNvSpPr>
          <p:nvPr/>
        </p:nvSpPr>
        <p:spPr>
          <a:xfrm>
            <a:off x="6858000" y="4143375"/>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Exceptions that require counterparty coordination</a:t>
            </a:r>
          </a:p>
        </p:txBody>
      </p:sp>
      <p:sp>
        <p:nvSpPr>
          <p:cNvPr id="43" name="Oval 42">
            <a:extLst>
              <a:ext uri="{FF2B5EF4-FFF2-40B4-BE49-F238E27FC236}">
                <a16:creationId xmlns:a16="http://schemas.microsoft.com/office/drawing/2014/main" id="{211418DD-72CF-428E-97C1-41A60E010AFF}"/>
              </a:ext>
            </a:extLst>
          </p:cNvPr>
          <p:cNvSpPr>
            <a:spLocks noGrp="1"/>
          </p:cNvSpPr>
          <p:nvPr/>
        </p:nvSpPr>
        <p:spPr>
          <a:xfrm>
            <a:off x="6477000" y="4657725"/>
            <a:ext cx="266700" cy="266700"/>
          </a:xfrm>
          <a:prstGeom prst="ellipse">
            <a:avLst/>
          </a:prstGeom>
          <a:solidFill>
            <a:srgbClr val="2B6CB0"/>
          </a:solidFill>
          <a:ln w="9525">
            <a:solidFill>
              <a:srgbClr val="2B6CB0"/>
            </a:solidFill>
            <a:prstDash val="solid"/>
          </a:ln>
        </p:spPr>
        <p:txBody>
          <a:bodyPr/>
          <a:lstStyle/>
          <a:p>
            <a:endParaRPr lang="en-CA"/>
          </a:p>
        </p:txBody>
      </p:sp>
      <p:sp>
        <p:nvSpPr>
          <p:cNvPr id="44" name="Rectangle 43">
            <a:extLst>
              <a:ext uri="{FF2B5EF4-FFF2-40B4-BE49-F238E27FC236}">
                <a16:creationId xmlns:a16="http://schemas.microsoft.com/office/drawing/2014/main" id="{DFA607AE-1CAC-4A5A-A929-9E2410A25886}"/>
              </a:ext>
            </a:extLst>
          </p:cNvPr>
          <p:cNvSpPr>
            <a:spLocks noGrp="1"/>
          </p:cNvSpPr>
          <p:nvPr/>
        </p:nvSpPr>
        <p:spPr>
          <a:xfrm>
            <a:off x="6477000" y="4667250"/>
            <a:ext cx="266700" cy="228600"/>
          </a:xfrm>
          <a:prstGeom prst="rect">
            <a:avLst/>
          </a:prstGeom>
          <a:noFill/>
          <a:ln w="0">
            <a:noFill/>
          </a:ln>
        </p:spPr>
        <p:txBody>
          <a:bodyPr wrap="square" lIns="0" tIns="0" rIns="0" bIns="0" anchor="ctr">
            <a:normAutofit/>
          </a:bodyPr>
          <a:lstStyle/>
          <a:p>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6</a:t>
            </a:r>
          </a:p>
        </p:txBody>
      </p:sp>
      <p:sp>
        <p:nvSpPr>
          <p:cNvPr id="45" name="Rectangle 44">
            <a:extLst>
              <a:ext uri="{FF2B5EF4-FFF2-40B4-BE49-F238E27FC236}">
                <a16:creationId xmlns:a16="http://schemas.microsoft.com/office/drawing/2014/main" id="{FE0F4ADB-1ED9-4686-8E62-F6858FB5E357}"/>
              </a:ext>
            </a:extLst>
          </p:cNvPr>
          <p:cNvSpPr>
            <a:spLocks noGrp="1"/>
          </p:cNvSpPr>
          <p:nvPr/>
        </p:nvSpPr>
        <p:spPr>
          <a:xfrm>
            <a:off x="6858000" y="4686300"/>
            <a:ext cx="4381500" cy="295275"/>
          </a:xfrm>
          <a:prstGeom prst="rect">
            <a:avLst/>
          </a:prstGeom>
          <a:noFill/>
          <a:ln w="0">
            <a:noFill/>
          </a:ln>
        </p:spPr>
        <p:txBody>
          <a:bodyPr wrap="square" lIns="0" tIns="0" rIns="0" bIns="0" anchor="t">
            <a:normAutofit/>
          </a:bodyPr>
          <a:lstStyle/>
          <a:p>
            <a:pPr algn="l">
              <a:defRPr sz="1350" b="0">
                <a:solidFill>
                  <a:srgbClr val="15283B"/>
                </a:solidFill>
                <a:latin typeface="DejaVu Sans"/>
                <a:ea typeface="DejaVu Sans"/>
                <a:cs typeface="DejaVu Sans"/>
              </a:defRPr>
            </a:pPr>
            <a:r>
              <a:rPr sz="1350" b="0">
                <a:solidFill>
                  <a:srgbClr val="15283B"/>
                </a:solidFill>
                <a:latin typeface="DejaVu Sans"/>
                <a:ea typeface="DejaVu Sans"/>
                <a:cs typeface="DejaVu Sans"/>
              </a:rPr>
              <a:t>Rationale in the DA summary and RT handoff</a:t>
            </a:r>
          </a:p>
        </p:txBody>
      </p:sp>
      <p:sp>
        <p:nvSpPr>
          <p:cNvPr id="46" name="Rectangle 45">
            <a:extLst>
              <a:ext uri="{FF2B5EF4-FFF2-40B4-BE49-F238E27FC236}">
                <a16:creationId xmlns:a16="http://schemas.microsoft.com/office/drawing/2014/main" id="{A226DEEF-AADE-4EB6-BAB5-8B13A62CEADC}"/>
              </a:ext>
            </a:extLst>
          </p:cNvPr>
          <p:cNvSpPr>
            <a:spLocks noGrp="1"/>
          </p:cNvSpPr>
          <p:nvPr/>
        </p:nvSpPr>
        <p:spPr>
          <a:xfrm>
            <a:off x="6429375" y="5334000"/>
            <a:ext cx="2095500" cy="228600"/>
          </a:xfrm>
          <a:prstGeom prst="rect">
            <a:avLst/>
          </a:prstGeom>
          <a:noFill/>
          <a:ln w="0">
            <a:noFill/>
          </a:ln>
        </p:spPr>
        <p:txBody>
          <a:bodyPr wrap="square" lIns="0" tIns="0" rIns="0" bIns="0" anchor="t">
            <a:normAutofit/>
          </a:bodyPr>
          <a:lstStyle/>
          <a:p>
            <a:pPr algn="l">
              <a:defRPr sz="1200" b="1">
                <a:solidFill>
                  <a:srgbClr val="5F7182"/>
                </a:solidFill>
                <a:latin typeface="DejaVu Sans"/>
                <a:ea typeface="DejaVu Sans"/>
                <a:cs typeface="DejaVu Sans"/>
              </a:defRPr>
            </a:pPr>
            <a:r>
              <a:rPr sz="1200" b="1">
                <a:solidFill>
                  <a:srgbClr val="5F7182"/>
                </a:solidFill>
                <a:latin typeface="DejaVu Sans"/>
                <a:ea typeface="DejaVu Sans"/>
                <a:cs typeface="DejaVu Sans"/>
              </a:rPr>
              <a:t>PROPOSED MEASURES</a:t>
            </a:r>
          </a:p>
        </p:txBody>
      </p:sp>
      <p:sp>
        <p:nvSpPr>
          <p:cNvPr id="47" name="Rectangle 46">
            <a:extLst>
              <a:ext uri="{FF2B5EF4-FFF2-40B4-BE49-F238E27FC236}">
                <a16:creationId xmlns:a16="http://schemas.microsoft.com/office/drawing/2014/main" id="{C22B89C3-AE78-495E-B656-D2BBA676ECCC}"/>
              </a:ext>
            </a:extLst>
          </p:cNvPr>
          <p:cNvSpPr>
            <a:spLocks noGrp="1"/>
          </p:cNvSpPr>
          <p:nvPr/>
        </p:nvSpPr>
        <p:spPr>
          <a:xfrm>
            <a:off x="6429375" y="5657850"/>
            <a:ext cx="4953000" cy="495300"/>
          </a:xfrm>
          <a:prstGeom prst="rect">
            <a:avLst/>
          </a:prstGeom>
          <a:noFill/>
          <a:ln w="0">
            <a:noFill/>
          </a:ln>
        </p:spPr>
        <p:txBody>
          <a:bodyPr wrap="square" lIns="0" tIns="0" rIns="0" bIns="0" anchor="t">
            <a:normAutofit/>
          </a:bodyPr>
          <a:lstStyle/>
          <a:p>
            <a:pPr algn="l">
              <a:defRPr sz="1200" b="0">
                <a:solidFill>
                  <a:srgbClr val="15283B"/>
                </a:solidFill>
                <a:latin typeface="DejaVu Sans"/>
                <a:ea typeface="DejaVu Sans"/>
                <a:cs typeface="DejaVu Sans"/>
              </a:defRPr>
            </a:pPr>
            <a:r>
              <a:rPr sz="1200" b="0">
                <a:solidFill>
                  <a:srgbClr val="15283B"/>
                </a:solidFill>
                <a:latin typeface="DejaVu Sans"/>
                <a:ea typeface="DejaVu Sans"/>
                <a:cs typeface="DejaVu Sans"/>
              </a:rPr>
              <a:t>Scheduling time per day, automatic trade capture rate</a:t>
            </a:r>
          </a:p>
          <a:p>
            <a:pPr algn="l">
              <a:defRPr sz="1200" b="0">
                <a:solidFill>
                  <a:srgbClr val="15283B"/>
                </a:solidFill>
                <a:latin typeface="DejaVu Sans"/>
                <a:ea typeface="DejaVu Sans"/>
                <a:cs typeface="DejaVu Sans"/>
              </a:defRPr>
            </a:pPr>
            <a:r>
              <a:rPr sz="1200" b="0">
                <a:solidFill>
                  <a:srgbClr val="15283B"/>
                </a:solidFill>
                <a:latin typeface="DejaVu Sans"/>
                <a:ea typeface="DejaVu Sans"/>
                <a:cs typeface="DejaVu Sans"/>
              </a:rPr>
              <a:t>Forward-validation exceptions, time to RT handoff</a:t>
            </a:r>
          </a:p>
        </p:txBody>
      </p:sp>
      <p:sp>
        <p:nvSpPr>
          <p:cNvPr id="48" name="Rectangle: Rounded Corners 47">
            <a:extLst>
              <a:ext uri="{FF2B5EF4-FFF2-40B4-BE49-F238E27FC236}">
                <a16:creationId xmlns:a16="http://schemas.microsoft.com/office/drawing/2014/main" id="{C964E375-6EDA-4415-BBF5-3988584018DA}"/>
              </a:ext>
            </a:extLst>
          </p:cNvPr>
          <p:cNvSpPr>
            <a:spLocks noGrp="1"/>
          </p:cNvSpPr>
          <p:nvPr/>
        </p:nvSpPr>
        <p:spPr>
          <a:xfrm>
            <a:off x="609600" y="6238875"/>
            <a:ext cx="10972800" cy="361950"/>
          </a:xfrm>
          <a:prstGeom prst="roundRect">
            <a:avLst>
              <a:gd name="adj" fmla="val 15789"/>
            </a:avLst>
          </a:prstGeom>
          <a:solidFill>
            <a:srgbClr val="12355B"/>
          </a:solidFill>
          <a:ln w="9525">
            <a:solidFill>
              <a:srgbClr val="12355B"/>
            </a:solidFill>
            <a:prstDash val="solid"/>
          </a:ln>
        </p:spPr>
        <p:txBody>
          <a:bodyPr/>
          <a:lstStyle/>
          <a:p>
            <a:endParaRPr lang="en-CA"/>
          </a:p>
        </p:txBody>
      </p:sp>
      <p:sp>
        <p:nvSpPr>
          <p:cNvPr id="49" name="Rectangle 48">
            <a:extLst>
              <a:ext uri="{FF2B5EF4-FFF2-40B4-BE49-F238E27FC236}">
                <a16:creationId xmlns:a16="http://schemas.microsoft.com/office/drawing/2014/main" id="{C71A2B30-C772-488A-954D-147029B7FF15}"/>
              </a:ext>
            </a:extLst>
          </p:cNvPr>
          <p:cNvSpPr>
            <a:spLocks noGrp="1"/>
          </p:cNvSpPr>
          <p:nvPr/>
        </p:nvSpPr>
        <p:spPr>
          <a:xfrm>
            <a:off x="819150" y="6296025"/>
            <a:ext cx="10553700" cy="238125"/>
          </a:xfrm>
          <a:prstGeom prst="rect">
            <a:avLst/>
          </a:prstGeom>
          <a:noFill/>
          <a:ln w="0">
            <a:noFill/>
          </a:ln>
        </p:spPr>
        <p:txBody>
          <a:bodyPr wrap="square" lIns="0" tIns="0" rIns="0" bIns="0" anchor="ctr">
            <a:normAutofit fontScale="89476"/>
          </a:bodyPr>
          <a:lstStyle/>
          <a:p>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Primary outcome: more trader time on P&amp;L decisions and less time rebuilding information across files and systems</a:t>
            </a:r>
          </a:p>
        </p:txBody>
      </p:sp>
      <p:sp>
        <p:nvSpPr>
          <p:cNvPr id="50" name="Rectangle 49">
            <a:extLst>
              <a:ext uri="{FF2B5EF4-FFF2-40B4-BE49-F238E27FC236}">
                <a16:creationId xmlns:a16="http://schemas.microsoft.com/office/drawing/2014/main" id="{DEE54F70-93F8-4730-B82C-A4FAF2A282AE}"/>
              </a:ext>
            </a:extLst>
          </p:cNvPr>
          <p:cNvSpPr>
            <a:spLocks noGrp="1"/>
          </p:cNvSpPr>
          <p:nvPr/>
        </p:nvSpPr>
        <p:spPr>
          <a:xfrm>
            <a:off x="11106150" y="6534150"/>
            <a:ext cx="476250" cy="171450"/>
          </a:xfrm>
          <a:prstGeom prst="rect">
            <a:avLst/>
          </a:prstGeom>
          <a:noFill/>
          <a:ln w="0">
            <a:noFill/>
          </a:ln>
        </p:spPr>
        <p:txBody>
          <a:bodyPr wrap="square" lIns="0" tIns="0" rIns="0" bIns="0" anchor="t">
            <a:normAutofit/>
          </a:bodyPr>
          <a:lstStyle/>
          <a:p>
            <a:pPr algn="r">
              <a:defRPr sz="975" b="0">
                <a:solidFill>
                  <a:srgbClr val="5F7182"/>
                </a:solidFill>
                <a:latin typeface="DejaVu Sans"/>
                <a:ea typeface="DejaVu Sans"/>
                <a:cs typeface="DejaVu Sans"/>
              </a:defRPr>
            </a:pPr>
            <a:r>
              <a:rPr sz="975" b="0">
                <a:solidFill>
                  <a:srgbClr val="5F7182"/>
                </a:solidFill>
                <a:latin typeface="DejaVu Sans"/>
                <a:ea typeface="DejaVu Sans"/>
                <a:cs typeface="DejaVu Sans"/>
              </a:rPr>
              <a:t>06</a:t>
            </a:r>
          </a:p>
        </p:txBody>
      </p:sp>
    </p:spTree>
    <p:extLst>
      <p:ext uri="{BB962C8B-B14F-4D97-AF65-F5344CB8AC3E}">
        <p14:creationId xmlns:p14="http://schemas.microsoft.com/office/powerpoint/2010/main" val="11010027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1139</Words>
  <Application>Microsoft Office PowerPoint</Application>
  <DocSecurity>0</DocSecurity>
  <PresentationFormat>Widescreen</PresentationFormat>
  <Paragraphs>179</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Emilio Pezaroglo-Des Groseill</cp:lastModifiedBy>
  <cp:revision>1</cp:revision>
  <dcterms:created xsi:type="dcterms:W3CDTF">2026-09-14T19:34:30Z</dcterms:created>
  <dcterms:modified xsi:type="dcterms:W3CDTF">2026-09-14T20:04:39Z</dcterms:modified>
</cp:coreProperties>
</file>